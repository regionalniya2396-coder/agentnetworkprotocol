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4" r:id="rId1"/>
    <p:sldMasterId id="2147483665" r:id="rId2"/>
  </p:sldMasterIdLst>
  <p:notesMasterIdLst>
    <p:notesMasterId r:id="rId18"/>
  </p:notesMasterIdLst>
  <p:sldIdLst>
    <p:sldId id="256" r:id="rId3"/>
    <p:sldId id="284" r:id="rId4"/>
    <p:sldId id="281" r:id="rId5"/>
    <p:sldId id="282" r:id="rId6"/>
    <p:sldId id="283" r:id="rId7"/>
    <p:sldId id="267" r:id="rId8"/>
    <p:sldId id="275" r:id="rId9"/>
    <p:sldId id="285" r:id="rId10"/>
    <p:sldId id="290" r:id="rId11"/>
    <p:sldId id="291" r:id="rId12"/>
    <p:sldId id="292" r:id="rId13"/>
    <p:sldId id="286" r:id="rId14"/>
    <p:sldId id="288" r:id="rId15"/>
    <p:sldId id="289" r:id="rId16"/>
    <p:sldId id="287"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3"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0277BD"/>
    <a:srgbClr val="0156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351" autoAdjust="0"/>
  </p:normalViewPr>
  <p:slideViewPr>
    <p:cSldViewPr snapToGrid="0">
      <p:cViewPr varScale="1">
        <p:scale>
          <a:sx n="82" d="100"/>
          <a:sy n="82" d="100"/>
        </p:scale>
        <p:origin x="820" y="56"/>
      </p:cViewPr>
      <p:guideLst>
        <p:guide orient="horz" pos="1643"/>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7179d949db_7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7179d949db_7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1424131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4200"/>
              <a:buFont typeface="Inter"/>
              <a:buNone/>
              <a:defRPr sz="4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1" name="Google Shape;11;p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2"/>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2"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1pPr>
            <a:lvl2pPr marL="0" marR="0" lvl="1"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2pPr>
            <a:lvl3pPr marL="0" marR="0" lvl="2"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3pPr>
            <a:lvl4pPr marL="0" marR="0" lvl="3"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4pPr>
            <a:lvl5pPr marL="0" marR="0" lvl="4"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5pPr>
            <a:lvl6pPr marL="0" marR="0" lvl="5"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6pPr>
            <a:lvl7pPr marL="0" marR="0" lvl="6"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7pPr>
            <a:lvl8pPr marL="0" marR="0" lvl="7"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8pPr>
            <a:lvl9pPr marL="0" marR="0" lvl="8"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5"/>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5"/>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5"/>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26" name="Google Shape;26;p5"/>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1pPr>
            <a:lvl2pPr marL="914400" marR="0" lvl="1"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2pPr>
            <a:lvl3pPr marL="1371600" marR="0" lvl="2"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3pPr>
            <a:lvl4pPr marL="1828800" marR="0" lvl="3"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4pPr>
            <a:lvl5pPr marL="2286000" marR="0" lvl="4"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7" name="Google Shape;27;p5"/>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1pPr>
            <a:lvl2pPr marL="914400" marR="0" lvl="1"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2pPr>
            <a:lvl3pPr marL="1371600" marR="0" lvl="2"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3pPr>
            <a:lvl4pPr marL="1828800" marR="0" lvl="3"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4pPr>
            <a:lvl5pPr marL="2286000" marR="0" lvl="4"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8" name="Google Shape;28;p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in title" type="titleOnly">
  <p:cSld name="TITLE_ONLY">
    <p:bg>
      <p:bgPr>
        <a:solidFill>
          <a:srgbClr val="002D3C"/>
        </a:solidFill>
        <a:effectLst/>
      </p:bgPr>
    </p:bg>
    <p:spTree>
      <p:nvGrpSpPr>
        <p:cNvPr id="1" name="Shape 29"/>
        <p:cNvGrpSpPr/>
        <p:nvPr/>
      </p:nvGrpSpPr>
      <p:grpSpPr>
        <a:xfrm>
          <a:off x="0" y="0"/>
          <a:ext cx="0" cy="0"/>
          <a:chOff x="0" y="0"/>
          <a:chExt cx="0" cy="0"/>
        </a:xfrm>
      </p:grpSpPr>
      <p:sp>
        <p:nvSpPr>
          <p:cNvPr id="30" name="Google Shape;30;p6"/>
          <p:cNvSpPr/>
          <p:nvPr/>
        </p:nvSpPr>
        <p:spPr>
          <a:xfrm rot="10800000" flipH="1">
            <a:off x="0" y="770474"/>
            <a:ext cx="9144000" cy="43803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6"/>
          <p:cNvSpPr txBox="1">
            <a:spLocks noGrp="1"/>
          </p:cNvSpPr>
          <p:nvPr>
            <p:ph type="title"/>
          </p:nvPr>
        </p:nvSpPr>
        <p:spPr>
          <a:xfrm>
            <a:off x="158699" y="61427"/>
            <a:ext cx="8826600" cy="602700"/>
          </a:xfrm>
          <a:prstGeom prst="rect">
            <a:avLst/>
          </a:prstGeom>
          <a:noFill/>
          <a:ln>
            <a:noFill/>
          </a:ln>
        </p:spPr>
        <p:txBody>
          <a:bodyPr spcFirstLastPara="1" wrap="square" lIns="91400" tIns="91400" rIns="91400" bIns="91400" anchor="ctr" anchorCtr="0">
            <a:noAutofit/>
          </a:bodyPr>
          <a:lstStyle>
            <a:lvl1pPr marR="0" lvl="0" algn="l" rtl="0">
              <a:lnSpc>
                <a:spcPct val="100000"/>
              </a:lnSpc>
              <a:spcBef>
                <a:spcPts val="0"/>
              </a:spcBef>
              <a:spcAft>
                <a:spcPts val="0"/>
              </a:spcAft>
              <a:buClr>
                <a:srgbClr val="FFFFFF"/>
              </a:buClr>
              <a:buSzPts val="2400"/>
              <a:buFont typeface="Inter"/>
              <a:buNone/>
              <a:defRPr sz="24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32" name="Google Shape;32;p6"/>
          <p:cNvSpPr txBox="1">
            <a:spLocks noGrp="1"/>
          </p:cNvSpPr>
          <p:nvPr>
            <p:ph type="body" idx="1"/>
          </p:nvPr>
        </p:nvSpPr>
        <p:spPr>
          <a:xfrm>
            <a:off x="460950" y="1001775"/>
            <a:ext cx="8222100" cy="376530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33" name="Google Shape;33;p6"/>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4"/>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9"/>
        <p:cNvGrpSpPr/>
        <p:nvPr/>
      </p:nvGrpSpPr>
      <p:grpSpPr>
        <a:xfrm>
          <a:off x="0" y="0"/>
          <a:ext cx="0" cy="0"/>
          <a:chOff x="0" y="0"/>
          <a:chExt cx="0" cy="0"/>
        </a:xfrm>
      </p:grpSpPr>
      <p:sp>
        <p:nvSpPr>
          <p:cNvPr id="10" name="Google Shape;10;p2"/>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 name="Google Shape;12;p2"/>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13" name="Google Shape;13;p2"/>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14" name="Google Shape;14;p2"/>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extLst>
      <p:ext uri="{BB962C8B-B14F-4D97-AF65-F5344CB8AC3E}">
        <p14:creationId xmlns:p14="http://schemas.microsoft.com/office/powerpoint/2010/main" val="3601692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17" name="Google Shape;17;p3"/>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18" name="Google Shape;18;p3"/>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 name="Google Shape;20;p3"/>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21" name="Google Shape;21;p3"/>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extLst>
      <p:ext uri="{BB962C8B-B14F-4D97-AF65-F5344CB8AC3E}">
        <p14:creationId xmlns:p14="http://schemas.microsoft.com/office/powerpoint/2010/main" val="3735541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2"/>
        <p:cNvGrpSpPr/>
        <p:nvPr/>
      </p:nvGrpSpPr>
      <p:grpSpPr>
        <a:xfrm>
          <a:off x="0" y="0"/>
          <a:ext cx="0" cy="0"/>
          <a:chOff x="0" y="0"/>
          <a:chExt cx="0" cy="0"/>
        </a:xfrm>
      </p:grpSpPr>
      <p:sp>
        <p:nvSpPr>
          <p:cNvPr id="23" name="Google Shape;23;p4"/>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 name="Google Shape;24;p4"/>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 name="Google Shape;25;p4"/>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26" name="Google Shape;26;p4"/>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27" name="Google Shape;27;p4"/>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28" name="Google Shape;28;p4"/>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2351223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31" name="Google Shape;31;p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61598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2"/>
        <p:cNvGrpSpPr/>
        <p:nvPr/>
      </p:nvGrpSpPr>
      <p:grpSpPr>
        <a:xfrm>
          <a:off x="0" y="0"/>
          <a:ext cx="0" cy="0"/>
          <a:chOff x="0" y="0"/>
          <a:chExt cx="0" cy="0"/>
        </a:xfrm>
      </p:grpSpPr>
      <p:sp>
        <p:nvSpPr>
          <p:cNvPr id="33" name="Google Shape;33;p6"/>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6"/>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 name="Google Shape;35;p6"/>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6" name="Google Shape;36;p6"/>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37" name="Google Shape;37;p6"/>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38" name="Google Shape;38;p6"/>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39" name="Google Shape;39;p6"/>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extLst>
      <p:ext uri="{BB962C8B-B14F-4D97-AF65-F5344CB8AC3E}">
        <p14:creationId xmlns:p14="http://schemas.microsoft.com/office/powerpoint/2010/main" val="3819638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0"/>
        <p:cNvGrpSpPr/>
        <p:nvPr/>
      </p:nvGrpSpPr>
      <p:grpSpPr>
        <a:xfrm>
          <a:off x="0" y="0"/>
          <a:ext cx="0" cy="0"/>
          <a:chOff x="0" y="0"/>
          <a:chExt cx="0" cy="0"/>
        </a:xfrm>
      </p:grpSpPr>
      <p:sp>
        <p:nvSpPr>
          <p:cNvPr id="41" name="Google Shape;41;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3" name="Google Shape;43;p7"/>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44" name="Google Shape;44;p7"/>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45" name="Google Shape;45;p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471235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
        <p:cNvGrpSpPr/>
        <p:nvPr/>
      </p:nvGrpSpPr>
      <p:grpSpPr>
        <a:xfrm>
          <a:off x="0" y="0"/>
          <a:ext cx="0" cy="0"/>
          <a:chOff x="0" y="0"/>
          <a:chExt cx="0" cy="0"/>
        </a:xfrm>
      </p:grpSpPr>
      <p:sp>
        <p:nvSpPr>
          <p:cNvPr id="47" name="Google Shape;47;p8"/>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48" name="Google Shape;4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986914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9"/>
        <p:cNvGrpSpPr/>
        <p:nvPr/>
      </p:nvGrpSpPr>
      <p:grpSpPr>
        <a:xfrm>
          <a:off x="0" y="0"/>
          <a:ext cx="0" cy="0"/>
          <a:chOff x="0" y="0"/>
          <a:chExt cx="0" cy="0"/>
        </a:xfrm>
      </p:grpSpPr>
      <p:sp>
        <p:nvSpPr>
          <p:cNvPr id="50" name="Google Shape;50;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9"/>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 name="Google Shape;52;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53" name="Google Shape;53;p9"/>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54" name="Google Shape;54;p9"/>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55" name="Google Shape;55;p9"/>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173004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6"/>
        <p:cNvGrpSpPr/>
        <p:nvPr/>
      </p:nvGrpSpPr>
      <p:grpSpPr>
        <a:xfrm>
          <a:off x="0" y="0"/>
          <a:ext cx="0" cy="0"/>
          <a:chOff x="0" y="0"/>
          <a:chExt cx="0" cy="0"/>
        </a:xfrm>
      </p:grpSpPr>
      <p:sp>
        <p:nvSpPr>
          <p:cNvPr id="57" name="Google Shape;57;p10"/>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0"/>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 name="Google Shape;59;p10"/>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60" name="Google Shape;60;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675691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accent4"/>
        </a:solidFill>
        <a:effectLst/>
      </p:bgPr>
    </p:bg>
    <p:spTree>
      <p:nvGrpSpPr>
        <p:cNvPr id="1" name="Shape 61"/>
        <p:cNvGrpSpPr/>
        <p:nvPr/>
      </p:nvGrpSpPr>
      <p:grpSpPr>
        <a:xfrm>
          <a:off x="0" y="0"/>
          <a:ext cx="0" cy="0"/>
          <a:chOff x="0" y="0"/>
          <a:chExt cx="0" cy="0"/>
        </a:xfrm>
      </p:grpSpPr>
      <p:sp>
        <p:nvSpPr>
          <p:cNvPr id="62" name="Google Shape;62;p11"/>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63" name="Google Shape;63;p11"/>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64" name="Google Shape;64;p11"/>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090096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1pPr>
            <a:lvl2pPr marL="0" marR="0" lvl="1"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2pPr>
            <a:lvl3pPr marL="0" marR="0" lvl="2"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3pPr>
            <a:lvl4pPr marL="0" marR="0" lvl="3"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4pPr>
            <a:lvl5pPr marL="0" marR="0" lvl="4"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5pPr>
            <a:lvl6pPr marL="0" marR="0" lvl="5"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6pPr>
            <a:lvl7pPr marL="0" marR="0" lvl="6"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7pPr>
            <a:lvl8pPr marL="0" marR="0" lvl="7"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8pPr>
            <a:lvl9pPr marL="0" marR="0" lvl="8"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2D3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8" name="Google Shape;8;p1"/>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45362519"/>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hyperlink" Target="https://github.com/jdrosen/aiproto-wg/blob/3f1cb59b980f31326a1c3965c2c40ad4badeffd1/charter.txt"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pic>
        <p:nvPicPr>
          <p:cNvPr id="3" name="Picture 2">
            <a:extLst>
              <a:ext uri="{FF2B5EF4-FFF2-40B4-BE49-F238E27FC236}">
                <a16:creationId xmlns:a16="http://schemas.microsoft.com/office/drawing/2014/main" id="{5BE605D5-5A7E-48DF-8668-83B2114C84E5}"/>
              </a:ext>
            </a:extLst>
          </p:cNvPr>
          <p:cNvPicPr>
            <a:picLocks noChangeAspect="1"/>
          </p:cNvPicPr>
          <p:nvPr/>
        </p:nvPicPr>
        <p:blipFill>
          <a:blip r:embed="rId3"/>
          <a:stretch>
            <a:fillRect/>
          </a:stretch>
        </p:blipFill>
        <p:spPr>
          <a:xfrm>
            <a:off x="3639820" y="0"/>
            <a:ext cx="5496560" cy="4122420"/>
          </a:xfrm>
          <a:prstGeom prst="rect">
            <a:avLst/>
          </a:prstGeom>
        </p:spPr>
      </p:pic>
      <p:sp>
        <p:nvSpPr>
          <p:cNvPr id="99" name="Google Shape;99;p19"/>
          <p:cNvSpPr txBox="1">
            <a:spLocks noGrp="1"/>
          </p:cNvSpPr>
          <p:nvPr>
            <p:ph type="title"/>
          </p:nvPr>
        </p:nvSpPr>
        <p:spPr>
          <a:xfrm>
            <a:off x="754500" y="2775510"/>
            <a:ext cx="7635000" cy="933600"/>
          </a:xfrm>
          <a:prstGeom prst="rect">
            <a:avLst/>
          </a:prstGeom>
          <a:noFill/>
          <a:ln>
            <a:noFill/>
          </a:ln>
        </p:spPr>
        <p:txBody>
          <a:bodyPr spcFirstLastPara="1" wrap="square" lIns="91400" tIns="91400" rIns="91400" bIns="91400" anchor="b" anchorCtr="0">
            <a:noAutofit/>
          </a:bodyPr>
          <a:lstStyle/>
          <a:p>
            <a:pPr lvl="0" algn="ctr"/>
            <a:r>
              <a:rPr lang="en-US" dirty="0"/>
              <a:t>Side meeting</a:t>
            </a:r>
            <a:br>
              <a:rPr lang="en-US" dirty="0"/>
            </a:br>
            <a:r>
              <a:rPr lang="en-US" dirty="0"/>
              <a:t>AI-Agent Network Requirements and Protocols </a:t>
            </a:r>
            <a:br>
              <a:rPr lang="en-US" sz="3600" dirty="0"/>
            </a:br>
            <a:endParaRPr sz="3600" dirty="0">
              <a:latin typeface="Inter"/>
              <a:ea typeface="Inter"/>
              <a:cs typeface="Inter"/>
              <a:sym typeface="Inter"/>
            </a:endParaRPr>
          </a:p>
        </p:txBody>
      </p:sp>
      <p:sp>
        <p:nvSpPr>
          <p:cNvPr id="100" name="Google Shape;100;p19"/>
          <p:cNvSpPr txBox="1"/>
          <p:nvPr/>
        </p:nvSpPr>
        <p:spPr>
          <a:xfrm>
            <a:off x="3402600" y="3131415"/>
            <a:ext cx="4986900"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dirty="0">
                <a:solidFill>
                  <a:srgbClr val="FFFFFF"/>
                </a:solidFill>
                <a:latin typeface="Inter"/>
                <a:ea typeface="Inter"/>
                <a:cs typeface="Inter"/>
                <a:sym typeface="Inter"/>
              </a:rPr>
              <a:t>November 2025</a:t>
            </a:r>
            <a:endParaRPr sz="1100" dirty="0">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Note Well</a:t>
            </a:r>
            <a:endParaRPr sz="2400" i="0" u="none" strike="noStrike" cap="none">
              <a:solidFill>
                <a:schemeClr val="lt1"/>
              </a:solidFill>
              <a:latin typeface="Inter"/>
              <a:ea typeface="Inter"/>
              <a:cs typeface="Inter"/>
              <a:sym typeface="Inter"/>
            </a:endParaRPr>
          </a:p>
        </p:txBody>
      </p:sp>
      <p:sp>
        <p:nvSpPr>
          <p:cNvPr id="70" name="Google Shape;70;p12"/>
          <p:cNvSpPr txBox="1"/>
          <p:nvPr/>
        </p:nvSpPr>
        <p:spPr>
          <a:xfrm>
            <a:off x="311700" y="740167"/>
            <a:ext cx="8520600" cy="4100700"/>
          </a:xfrm>
          <a:prstGeom prst="rect">
            <a:avLst/>
          </a:prstGeom>
          <a:noFill/>
          <a:ln>
            <a:noFill/>
          </a:ln>
        </p:spPr>
        <p:txBody>
          <a:bodyPr spcFirstLastPara="1" wrap="square" lIns="91400" tIns="45700" rIns="91400" bIns="45700" anchor="t" anchorCtr="0">
            <a:noAutofit/>
          </a:bodyPr>
          <a:lstStyle/>
          <a:p>
            <a:pPr marL="0" marR="0" lvl="0" indent="0" algn="l" defTabSz="914400" rtl="0" eaLnBrk="1" fontAlgn="auto" latinLnBrk="0" hangingPunct="1">
              <a:lnSpc>
                <a:spcPct val="115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By participating in the IETF you agree to follow IETF processes and policies. This Note Well is a reminder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of some of those policies. For a linked version of this text, please visit </a:t>
            </a:r>
            <a:r>
              <a:rPr kumimoji="0" lang="en-US" sz="1200" b="0" i="1" u="none" strike="noStrike" kern="0" cap="none" spc="0" normalizeH="0" baseline="0" noProof="0" dirty="0" err="1">
                <a:ln>
                  <a:noFill/>
                </a:ln>
                <a:solidFill>
                  <a:srgbClr val="000000"/>
                </a:solidFill>
                <a:effectLst/>
                <a:uLnTx/>
                <a:uFillTx/>
                <a:latin typeface="Inter"/>
                <a:ea typeface="Inter"/>
                <a:cs typeface="Inter"/>
                <a:sym typeface="Inter"/>
              </a:rPr>
              <a:t>www.ietf.org</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/note-well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or use the QR code below.</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IETF participants are expected to behave in a professional manner and extend respect and courtesy to their colleagues at all times (see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7154: IETF Guidelines for Conduct and IETF Anti-Harassment Policy</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If you have any concerns about behavior, please contact the </a:t>
            </a:r>
            <a:r>
              <a:rPr kumimoji="0" lang="en-US" sz="1200" b="0" i="1" u="none" strike="noStrike" kern="0" cap="none" spc="0" normalizeH="0" baseline="0" noProof="0" dirty="0" err="1">
                <a:ln>
                  <a:noFill/>
                </a:ln>
                <a:solidFill>
                  <a:srgbClr val="000000"/>
                </a:solidFill>
                <a:effectLst/>
                <a:uLnTx/>
                <a:uFillTx/>
                <a:latin typeface="Inter"/>
                <a:ea typeface="Inter"/>
                <a:cs typeface="Inter"/>
                <a:sym typeface="Inter"/>
              </a:rPr>
              <a:t>Ombudsteam</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who have a duty of confidentiality and extensive powers to act, as set out in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7776: IETF Anti-Harassment Procedures</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If you are aware that any IETF contribution (as defined in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5378: Rights Contributors Provide to the IETF Trust</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is covered by patents or patent applications that are owned or controlled by you, your employer or your sponsor, you must disclose that fact, or not participate in the discussion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(see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8179: Intellectual Property Rights in IETF Technology</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For detailed process information consult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2026: Internet Standards Process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and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RFC 2418: IETF Working Group Guidelines and Procedures </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and updates to those.</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171450" marR="0" lvl="0" indent="-171450" algn="l" defTabSz="914400" rtl="0" eaLnBrk="1" fontAlgn="auto" latinLnBrk="0" hangingPunct="1">
              <a:lnSpc>
                <a:spcPct val="115000"/>
              </a:lnSpc>
              <a:spcBef>
                <a:spcPts val="100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The IETF routinely makes public written, audio, video, and photographic records </a:t>
            </a:r>
            <a:b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b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of IETF activities, including your personal information as set out in the </a:t>
            </a:r>
            <a:r>
              <a:rPr kumimoji="0" lang="en-US" sz="1200" b="0" i="1" u="none" strike="noStrike" kern="0" cap="none" spc="0" normalizeH="0" baseline="0" noProof="0" dirty="0">
                <a:ln>
                  <a:noFill/>
                </a:ln>
                <a:solidFill>
                  <a:srgbClr val="000000"/>
                </a:solidFill>
                <a:effectLst/>
                <a:uLnTx/>
                <a:uFillTx/>
                <a:latin typeface="Inter"/>
                <a:ea typeface="Inter"/>
                <a:cs typeface="Inter"/>
                <a:sym typeface="Inter"/>
              </a:rPr>
              <a:t>IETF Privacy Statement</a:t>
            </a: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 </a:t>
            </a:r>
            <a:endParaRPr kumimoji="0" sz="1200" b="0" i="0" u="none" strike="noStrike" kern="0" cap="none" spc="0" normalizeH="0" baseline="0" noProof="0" dirty="0">
              <a:ln>
                <a:noFill/>
              </a:ln>
              <a:solidFill>
                <a:srgbClr val="000000"/>
              </a:solidFill>
              <a:effectLst/>
              <a:uLnTx/>
              <a:uFillTx/>
              <a:latin typeface="Inter"/>
              <a:ea typeface="Inter"/>
              <a:cs typeface="Inter"/>
              <a:sym typeface="Inter"/>
            </a:endParaRPr>
          </a:p>
          <a:p>
            <a:pPr marL="0" marR="0" lvl="0" indent="0" algn="l" defTabSz="914400" rtl="0" eaLnBrk="1" fontAlgn="auto" latinLnBrk="0" hangingPunct="1">
              <a:lnSpc>
                <a:spcPct val="115000"/>
              </a:lnSpc>
              <a:spcBef>
                <a:spcPts val="1000"/>
              </a:spcBef>
              <a:spcAft>
                <a:spcPts val="1000"/>
              </a:spcAft>
              <a:buClr>
                <a:srgbClr val="000000"/>
              </a:buClr>
              <a:buSzTx/>
              <a:buFont typeface="Arial"/>
              <a:buNone/>
              <a:tabLst/>
              <a:defRPr/>
            </a:pPr>
            <a:r>
              <a:rPr kumimoji="0" lang="en-US" sz="1200" b="0" i="0" u="none" strike="noStrike" kern="0" cap="none" spc="0" normalizeH="0" baseline="0" noProof="0" dirty="0">
                <a:ln>
                  <a:noFill/>
                </a:ln>
                <a:solidFill>
                  <a:srgbClr val="000000"/>
                </a:solidFill>
                <a:effectLst/>
                <a:uLnTx/>
                <a:uFillTx/>
                <a:latin typeface="Inter"/>
                <a:ea typeface="Inter"/>
                <a:cs typeface="Inter"/>
                <a:sym typeface="Inter"/>
              </a:rPr>
              <a:t>For advice, please talk to Working Group chairs or Area Directors.</a:t>
            </a:r>
            <a:endParaRPr kumimoji="0" sz="1200" b="0" i="0" u="none" strike="noStrike" kern="0" cap="none" spc="0" normalizeH="0" baseline="0" noProof="0" dirty="0">
              <a:ln>
                <a:noFill/>
              </a:ln>
              <a:solidFill>
                <a:srgbClr val="434343"/>
              </a:solidFill>
              <a:effectLst/>
              <a:uLnTx/>
              <a:uFillTx/>
              <a:latin typeface="Inter"/>
              <a:ea typeface="Inter"/>
              <a:cs typeface="Inter"/>
              <a:sym typeface="Inter"/>
            </a:endParaRPr>
          </a:p>
        </p:txBody>
      </p:sp>
      <p:pic>
        <p:nvPicPr>
          <p:cNvPr id="71" name="Google Shape;71;p12"/>
          <p:cNvPicPr preferRelativeResize="0"/>
          <p:nvPr/>
        </p:nvPicPr>
        <p:blipFill>
          <a:blip r:embed="rId3">
            <a:alphaModFix/>
          </a:blip>
          <a:stretch>
            <a:fillRect/>
          </a:stretch>
        </p:blipFill>
        <p:spPr>
          <a:xfrm>
            <a:off x="7489875" y="3038675"/>
            <a:ext cx="1383300" cy="1383300"/>
          </a:xfrm>
          <a:prstGeom prst="rect">
            <a:avLst/>
          </a:prstGeom>
          <a:noFill/>
          <a:ln w="9525" cap="flat" cmpd="sng">
            <a:solidFill>
              <a:srgbClr val="000000"/>
            </a:solidFill>
            <a:prstDash val="solid"/>
            <a:round/>
            <a:headEnd type="none" w="sm" len="sm"/>
            <a:tailEnd type="none" w="sm" len="sm"/>
          </a:ln>
        </p:spPr>
      </p:pic>
      <p:pic>
        <p:nvPicPr>
          <p:cNvPr id="5" name="Picture 4">
            <a:extLst>
              <a:ext uri="{FF2B5EF4-FFF2-40B4-BE49-F238E27FC236}">
                <a16:creationId xmlns:a16="http://schemas.microsoft.com/office/drawing/2014/main" id="{4DDAA3D3-4288-4192-BDE7-327810687C3E}"/>
              </a:ext>
            </a:extLst>
          </p:cNvPr>
          <p:cNvPicPr>
            <a:picLocks noChangeAspect="1"/>
          </p:cNvPicPr>
          <p:nvPr/>
        </p:nvPicPr>
        <p:blipFill>
          <a:blip r:embed="rId4"/>
          <a:stretch>
            <a:fillRect/>
          </a:stretch>
        </p:blipFill>
        <p:spPr>
          <a:xfrm>
            <a:off x="8260080" y="36810"/>
            <a:ext cx="769620" cy="57721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AFAD-A59B-4C0D-8B44-5BC47DFD04EB}"/>
              </a:ext>
            </a:extLst>
          </p:cNvPr>
          <p:cNvSpPr>
            <a:spLocks noGrp="1"/>
          </p:cNvSpPr>
          <p:nvPr>
            <p:ph type="title"/>
          </p:nvPr>
        </p:nvSpPr>
        <p:spPr/>
        <p:txBody>
          <a:bodyPr/>
          <a:lstStyle/>
          <a:p>
            <a:r>
              <a:rPr lang="fr-FR" dirty="0"/>
              <a:t>Agenda</a:t>
            </a:r>
            <a:endParaRPr lang="en-US" dirty="0"/>
          </a:p>
        </p:txBody>
      </p:sp>
      <p:sp>
        <p:nvSpPr>
          <p:cNvPr id="3" name="Text Placeholder 2">
            <a:extLst>
              <a:ext uri="{FF2B5EF4-FFF2-40B4-BE49-F238E27FC236}">
                <a16:creationId xmlns:a16="http://schemas.microsoft.com/office/drawing/2014/main" id="{5987450D-7FF5-41D9-8287-B7D52FBE5943}"/>
              </a:ext>
            </a:extLst>
          </p:cNvPr>
          <p:cNvSpPr>
            <a:spLocks noGrp="1"/>
          </p:cNvSpPr>
          <p:nvPr>
            <p:ph type="body" idx="1"/>
          </p:nvPr>
        </p:nvSpPr>
        <p:spPr/>
        <p:txBody>
          <a:bodyPr/>
          <a:lstStyle/>
          <a:p>
            <a:pPr marL="114300" indent="0">
              <a:buNone/>
            </a:pPr>
            <a:r>
              <a:rPr lang="en-US" dirty="0"/>
              <a:t>10min: Agenda and Introduction (Lionel)</a:t>
            </a:r>
          </a:p>
          <a:p>
            <a:pPr marL="114300" indent="0">
              <a:buNone/>
            </a:pPr>
            <a:r>
              <a:rPr lang="en-US" dirty="0"/>
              <a:t>60min: Presentations</a:t>
            </a:r>
          </a:p>
          <a:p>
            <a:pPr marL="571500" lvl="1" indent="0">
              <a:buNone/>
            </a:pPr>
            <a:r>
              <a:rPr lang="en-US" sz="1600" dirty="0"/>
              <a:t>15mn: AI Agents Communication Use Cases and Requirements (China Telecom)</a:t>
            </a:r>
          </a:p>
          <a:p>
            <a:pPr marL="571500" lvl="1" indent="0">
              <a:buNone/>
            </a:pPr>
            <a:r>
              <a:rPr lang="en-US" sz="1600" dirty="0"/>
              <a:t>10mn: Telecom AI Agent Use cases and Requirements (China Mobile)</a:t>
            </a:r>
            <a:r>
              <a:rPr lang="fr-FR" sz="1600" dirty="0"/>
              <a:t> </a:t>
            </a:r>
          </a:p>
          <a:p>
            <a:pPr marL="571500" lvl="1" indent="0">
              <a:buNone/>
            </a:pPr>
            <a:r>
              <a:rPr lang="en-US" sz="1600" dirty="0"/>
              <a:t>10mn: Multi-Access Collaboration Requirements for AI Agent Protocol (China Unicom)</a:t>
            </a:r>
          </a:p>
          <a:p>
            <a:pPr marL="571500" lvl="1" indent="0">
              <a:buNone/>
            </a:pPr>
            <a:r>
              <a:rPr lang="fr-FR" sz="1600" dirty="0"/>
              <a:t>25mn: AI agent networks </a:t>
            </a:r>
            <a:r>
              <a:rPr lang="fr-FR" sz="1600" dirty="0" err="1"/>
              <a:t>framework</a:t>
            </a:r>
            <a:r>
              <a:rPr lang="fr-FR" sz="1600" dirty="0"/>
              <a:t> (ANP)</a:t>
            </a:r>
            <a:endParaRPr lang="en-US" sz="1600" dirty="0"/>
          </a:p>
          <a:p>
            <a:pPr marL="114300" indent="0">
              <a:buNone/>
            </a:pPr>
            <a:r>
              <a:rPr lang="en-US" dirty="0"/>
              <a:t>40min: Additional items for the proposed charter? </a:t>
            </a:r>
          </a:p>
          <a:p>
            <a:pPr marL="114300" indent="0">
              <a:buNone/>
            </a:pPr>
            <a:r>
              <a:rPr lang="en-US" dirty="0"/>
              <a:t>10min: Conclusions and Next Steps</a:t>
            </a:r>
          </a:p>
        </p:txBody>
      </p:sp>
      <p:sp>
        <p:nvSpPr>
          <p:cNvPr id="4" name="Slide Number Placeholder 3">
            <a:extLst>
              <a:ext uri="{FF2B5EF4-FFF2-40B4-BE49-F238E27FC236}">
                <a16:creationId xmlns:a16="http://schemas.microsoft.com/office/drawing/2014/main" id="{7DDBDB5F-36F5-496B-BDD7-B45C55AF44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pic>
        <p:nvPicPr>
          <p:cNvPr id="5" name="Picture 4">
            <a:extLst>
              <a:ext uri="{FF2B5EF4-FFF2-40B4-BE49-F238E27FC236}">
                <a16:creationId xmlns:a16="http://schemas.microsoft.com/office/drawing/2014/main" id="{18358B0B-1C49-4E1A-ACC0-9A2C6076E979}"/>
              </a:ext>
            </a:extLst>
          </p:cNvPr>
          <p:cNvPicPr>
            <a:picLocks noChangeAspect="1"/>
          </p:cNvPicPr>
          <p:nvPr/>
        </p:nvPicPr>
        <p:blipFill>
          <a:blip r:embed="rId2"/>
          <a:stretch>
            <a:fillRect/>
          </a:stretch>
        </p:blipFill>
        <p:spPr>
          <a:xfrm>
            <a:off x="8260080" y="114300"/>
            <a:ext cx="769620" cy="577215"/>
          </a:xfrm>
          <a:prstGeom prst="rect">
            <a:avLst/>
          </a:prstGeom>
        </p:spPr>
      </p:pic>
    </p:spTree>
    <p:extLst>
      <p:ext uri="{BB962C8B-B14F-4D97-AF65-F5344CB8AC3E}">
        <p14:creationId xmlns:p14="http://schemas.microsoft.com/office/powerpoint/2010/main" val="359496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3B39-0DEA-4D80-8FB0-4F12C373259A}"/>
              </a:ext>
            </a:extLst>
          </p:cNvPr>
          <p:cNvSpPr>
            <a:spLocks noGrp="1"/>
          </p:cNvSpPr>
          <p:nvPr>
            <p:ph type="title"/>
          </p:nvPr>
        </p:nvSpPr>
        <p:spPr/>
        <p:txBody>
          <a:bodyPr/>
          <a:lstStyle/>
          <a:p>
            <a:r>
              <a:rPr lang="fr-FR" dirty="0"/>
              <a:t>Output of </a:t>
            </a:r>
            <a:r>
              <a:rPr lang="en-US" dirty="0"/>
              <a:t>AI Protocols s</a:t>
            </a:r>
            <a:r>
              <a:rPr lang="fr-FR" dirty="0"/>
              <a:t>ide meeting </a:t>
            </a:r>
            <a:r>
              <a:rPr lang="en-US" dirty="0"/>
              <a:t>(Tuesday, Nov 4)</a:t>
            </a:r>
          </a:p>
        </p:txBody>
      </p:sp>
      <p:sp>
        <p:nvSpPr>
          <p:cNvPr id="3" name="Text Placeholder 2">
            <a:extLst>
              <a:ext uri="{FF2B5EF4-FFF2-40B4-BE49-F238E27FC236}">
                <a16:creationId xmlns:a16="http://schemas.microsoft.com/office/drawing/2014/main" id="{D9051900-2186-4987-B013-A92B79D1976A}"/>
              </a:ext>
            </a:extLst>
          </p:cNvPr>
          <p:cNvSpPr>
            <a:spLocks noGrp="1"/>
          </p:cNvSpPr>
          <p:nvPr>
            <p:ph type="body" idx="1"/>
          </p:nvPr>
        </p:nvSpPr>
        <p:spPr/>
        <p:txBody>
          <a:bodyPr/>
          <a:lstStyle/>
          <a:p>
            <a:r>
              <a:rPr lang="en-US" dirty="0"/>
              <a:t>Discussion on the Strawman charter:</a:t>
            </a:r>
          </a:p>
          <a:p>
            <a:pPr marL="571500" lvl="1" indent="0">
              <a:buNone/>
            </a:pPr>
            <a:r>
              <a:rPr lang="en-US" sz="1200" dirty="0">
                <a:hlinkClick r:id="rId2"/>
              </a:rPr>
              <a:t>https://github.com/jdrosen/aiproto-wg/blob/3f1cb59b980f31326a1c3965c2c40ad4badeffd1/charter.txt</a:t>
            </a:r>
            <a:r>
              <a:rPr lang="en-US" sz="1200" dirty="0"/>
              <a:t> </a:t>
            </a:r>
          </a:p>
          <a:p>
            <a:r>
              <a:rPr lang="fr-FR" dirty="0" err="1"/>
              <a:t>Current</a:t>
            </a:r>
            <a:r>
              <a:rPr lang="fr-FR" dirty="0"/>
              <a:t> charter items</a:t>
            </a:r>
            <a:endParaRPr lang="en-US" dirty="0"/>
          </a:p>
          <a:p>
            <a:pPr marL="571500" lvl="1" indent="0">
              <a:buNone/>
            </a:pPr>
            <a:r>
              <a:rPr lang="en-US" sz="1600" b="1" dirty="0"/>
              <a:t>(1) A standards track AI Agent session protocol for creation and maintenance of long-lived sessions between AI agents, or between AI agents and tools that have long-lived operation.</a:t>
            </a:r>
          </a:p>
          <a:p>
            <a:pPr marL="571500" lvl="1" indent="0">
              <a:buNone/>
            </a:pPr>
            <a:r>
              <a:rPr lang="en-US" sz="1600" b="1" dirty="0"/>
              <a:t>(2) An Agent-to-Agent protocol that allows one AI Agent to invoke the services of another AI Agent. </a:t>
            </a:r>
          </a:p>
          <a:p>
            <a:pPr marL="571500" lvl="1" indent="0">
              <a:buNone/>
            </a:pPr>
            <a:r>
              <a:rPr lang="en-US" sz="1600" i="1" dirty="0"/>
              <a:t>(3) A protocol for enabling human users to confirm operations invoked by AI agents acting on their behalf. </a:t>
            </a:r>
          </a:p>
          <a:p>
            <a:pPr marL="571500" lvl="1" indent="0">
              <a:buNone/>
            </a:pPr>
            <a:r>
              <a:rPr lang="en-US" sz="1600" i="1" dirty="0"/>
              <a:t>(4) A protocol that allows an AI Agent to obtain and exchange OAuth tokens with extremely limited scopes, bound to the specific operations that the AI Agent is permitted to perform on behalf of the user. </a:t>
            </a:r>
          </a:p>
          <a:p>
            <a:endParaRPr lang="en-US" dirty="0"/>
          </a:p>
        </p:txBody>
      </p:sp>
      <p:sp>
        <p:nvSpPr>
          <p:cNvPr id="4" name="Slide Number Placeholder 3">
            <a:extLst>
              <a:ext uri="{FF2B5EF4-FFF2-40B4-BE49-F238E27FC236}">
                <a16:creationId xmlns:a16="http://schemas.microsoft.com/office/drawing/2014/main" id="{F857EC98-3AC2-418C-B596-78A4BEA75AA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pic>
        <p:nvPicPr>
          <p:cNvPr id="5" name="Picture 4">
            <a:extLst>
              <a:ext uri="{FF2B5EF4-FFF2-40B4-BE49-F238E27FC236}">
                <a16:creationId xmlns:a16="http://schemas.microsoft.com/office/drawing/2014/main" id="{8E82D3A9-0885-45E3-AD8D-4243972DD581}"/>
              </a:ext>
            </a:extLst>
          </p:cNvPr>
          <p:cNvPicPr>
            <a:picLocks noChangeAspect="1"/>
          </p:cNvPicPr>
          <p:nvPr/>
        </p:nvPicPr>
        <p:blipFill>
          <a:blip r:embed="rId3"/>
          <a:stretch>
            <a:fillRect/>
          </a:stretch>
        </p:blipFill>
        <p:spPr>
          <a:xfrm>
            <a:off x="8260080" y="114300"/>
            <a:ext cx="769620" cy="577215"/>
          </a:xfrm>
          <a:prstGeom prst="rect">
            <a:avLst/>
          </a:prstGeom>
        </p:spPr>
      </p:pic>
    </p:spTree>
    <p:extLst>
      <p:ext uri="{BB962C8B-B14F-4D97-AF65-F5344CB8AC3E}">
        <p14:creationId xmlns:p14="http://schemas.microsoft.com/office/powerpoint/2010/main" val="32882401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ABEB2-7C11-481C-826E-02EB0AD4CDFC}"/>
              </a:ext>
            </a:extLst>
          </p:cNvPr>
          <p:cNvSpPr>
            <a:spLocks noGrp="1"/>
          </p:cNvSpPr>
          <p:nvPr>
            <p:ph type="title"/>
          </p:nvPr>
        </p:nvSpPr>
        <p:spPr/>
        <p:txBody>
          <a:bodyPr/>
          <a:lstStyle/>
          <a:p>
            <a:r>
              <a:rPr lang="fr-FR" dirty="0"/>
              <a:t>Objectives of </a:t>
            </a:r>
            <a:r>
              <a:rPr lang="fr-FR" dirty="0" err="1"/>
              <a:t>this</a:t>
            </a:r>
            <a:r>
              <a:rPr lang="fr-FR" dirty="0"/>
              <a:t> </a:t>
            </a:r>
            <a:r>
              <a:rPr lang="fr-FR" dirty="0" err="1"/>
              <a:t>side</a:t>
            </a:r>
            <a:r>
              <a:rPr lang="fr-FR" dirty="0"/>
              <a:t> meeting</a:t>
            </a:r>
            <a:endParaRPr lang="en-US" dirty="0"/>
          </a:p>
        </p:txBody>
      </p:sp>
      <p:sp>
        <p:nvSpPr>
          <p:cNvPr id="3" name="Text Placeholder 2">
            <a:extLst>
              <a:ext uri="{FF2B5EF4-FFF2-40B4-BE49-F238E27FC236}">
                <a16:creationId xmlns:a16="http://schemas.microsoft.com/office/drawing/2014/main" id="{3FCF14A8-404D-4FFA-8BA6-247A49F165BA}"/>
              </a:ext>
            </a:extLst>
          </p:cNvPr>
          <p:cNvSpPr>
            <a:spLocks noGrp="1"/>
          </p:cNvSpPr>
          <p:nvPr>
            <p:ph type="body" idx="1"/>
          </p:nvPr>
        </p:nvSpPr>
        <p:spPr/>
        <p:txBody>
          <a:bodyPr/>
          <a:lstStyle/>
          <a:p>
            <a:r>
              <a:rPr lang="en-US" dirty="0"/>
              <a:t>Present some specific telco use cases and requirements</a:t>
            </a:r>
          </a:p>
          <a:p>
            <a:r>
              <a:rPr lang="en-US" dirty="0"/>
              <a:t>Identify additional aspect(s) not addressed in the current proposed charter</a:t>
            </a:r>
          </a:p>
          <a:p>
            <a:r>
              <a:rPr lang="en-US" dirty="0"/>
              <a:t>Potential proposal for charter update.</a:t>
            </a:r>
          </a:p>
          <a:p>
            <a:endParaRPr lang="en-US" dirty="0"/>
          </a:p>
        </p:txBody>
      </p:sp>
      <p:sp>
        <p:nvSpPr>
          <p:cNvPr id="4" name="Slide Number Placeholder 3">
            <a:extLst>
              <a:ext uri="{FF2B5EF4-FFF2-40B4-BE49-F238E27FC236}">
                <a16:creationId xmlns:a16="http://schemas.microsoft.com/office/drawing/2014/main" id="{B11598F8-C28D-49B8-8CA3-11E88BE3CE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pic>
        <p:nvPicPr>
          <p:cNvPr id="5" name="Picture 4">
            <a:extLst>
              <a:ext uri="{FF2B5EF4-FFF2-40B4-BE49-F238E27FC236}">
                <a16:creationId xmlns:a16="http://schemas.microsoft.com/office/drawing/2014/main" id="{EEBA9EEB-EE2C-432C-8DB8-7A58554F9411}"/>
              </a:ext>
            </a:extLst>
          </p:cNvPr>
          <p:cNvPicPr>
            <a:picLocks noChangeAspect="1"/>
          </p:cNvPicPr>
          <p:nvPr/>
        </p:nvPicPr>
        <p:blipFill>
          <a:blip r:embed="rId2"/>
          <a:stretch>
            <a:fillRect/>
          </a:stretch>
        </p:blipFill>
        <p:spPr>
          <a:xfrm>
            <a:off x="8260080" y="114300"/>
            <a:ext cx="769620" cy="577215"/>
          </a:xfrm>
          <a:prstGeom prst="rect">
            <a:avLst/>
          </a:prstGeom>
        </p:spPr>
      </p:pic>
    </p:spTree>
    <p:extLst>
      <p:ext uri="{BB962C8B-B14F-4D97-AF65-F5344CB8AC3E}">
        <p14:creationId xmlns:p14="http://schemas.microsoft.com/office/powerpoint/2010/main" val="4233551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FE902-8ADD-4F23-9A5B-0ADA02E5750C}"/>
              </a:ext>
            </a:extLst>
          </p:cNvPr>
          <p:cNvSpPr>
            <a:spLocks noGrp="1"/>
          </p:cNvSpPr>
          <p:nvPr>
            <p:ph type="title"/>
          </p:nvPr>
        </p:nvSpPr>
        <p:spPr/>
        <p:txBody>
          <a:bodyPr/>
          <a:lstStyle/>
          <a:p>
            <a:r>
              <a:rPr lang="fr-FR" dirty="0"/>
              <a:t>3GPP 6G </a:t>
            </a:r>
            <a:r>
              <a:rPr lang="fr-FR" dirty="0" err="1"/>
              <a:t>workplan</a:t>
            </a:r>
            <a:r>
              <a:rPr lang="fr-FR" dirty="0"/>
              <a:t> </a:t>
            </a:r>
            <a:endParaRPr lang="en-US" dirty="0"/>
          </a:p>
        </p:txBody>
      </p:sp>
      <p:sp>
        <p:nvSpPr>
          <p:cNvPr id="4" name="Slide Number Placeholder 3">
            <a:extLst>
              <a:ext uri="{FF2B5EF4-FFF2-40B4-BE49-F238E27FC236}">
                <a16:creationId xmlns:a16="http://schemas.microsoft.com/office/drawing/2014/main" id="{A6C5EE19-3F16-424B-A736-999309A5928B}"/>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US" smtClean="0"/>
              <a:t>6</a:t>
            </a:fld>
            <a:endParaRPr lang="en-US"/>
          </a:p>
        </p:txBody>
      </p:sp>
      <p:sp>
        <p:nvSpPr>
          <p:cNvPr id="6" name="Rectangle: Rounded Corners 5">
            <a:extLst>
              <a:ext uri="{FF2B5EF4-FFF2-40B4-BE49-F238E27FC236}">
                <a16:creationId xmlns:a16="http://schemas.microsoft.com/office/drawing/2014/main" id="{CDCBB16D-DA8D-4D71-9930-7975034DE436}"/>
              </a:ext>
            </a:extLst>
          </p:cNvPr>
          <p:cNvSpPr/>
          <p:nvPr/>
        </p:nvSpPr>
        <p:spPr>
          <a:xfrm>
            <a:off x="1122759" y="1755016"/>
            <a:ext cx="1150620" cy="320040"/>
          </a:xfrm>
          <a:prstGeom prst="roundRect">
            <a:avLst/>
          </a:prstGeom>
          <a:solidFill>
            <a:schemeClr val="bg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Service </a:t>
            </a:r>
            <a:r>
              <a:rPr lang="fr-FR" sz="1200" dirty="0" err="1">
                <a:solidFill>
                  <a:schemeClr val="accent4"/>
                </a:solidFill>
              </a:rPr>
              <a:t>requirements</a:t>
            </a:r>
            <a:endParaRPr lang="en-US" sz="1200" dirty="0">
              <a:solidFill>
                <a:schemeClr val="accent4"/>
              </a:solidFill>
            </a:endParaRPr>
          </a:p>
        </p:txBody>
      </p:sp>
      <p:sp>
        <p:nvSpPr>
          <p:cNvPr id="16" name="Rectangle: Rounded Corners 15">
            <a:extLst>
              <a:ext uri="{FF2B5EF4-FFF2-40B4-BE49-F238E27FC236}">
                <a16:creationId xmlns:a16="http://schemas.microsoft.com/office/drawing/2014/main" id="{D3EA8985-F5ED-439A-A885-30D4D2AAB819}"/>
              </a:ext>
            </a:extLst>
          </p:cNvPr>
          <p:cNvSpPr/>
          <p:nvPr/>
        </p:nvSpPr>
        <p:spPr>
          <a:xfrm>
            <a:off x="2754629" y="2677486"/>
            <a:ext cx="1367787" cy="320040"/>
          </a:xfrm>
          <a:prstGeom prst="roundRect">
            <a:avLst/>
          </a:prstGeom>
          <a:solidFill>
            <a:schemeClr val="bg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Security</a:t>
            </a:r>
            <a:endParaRPr lang="en-US" sz="1200" dirty="0">
              <a:solidFill>
                <a:schemeClr val="accent4"/>
              </a:solidFill>
            </a:endParaRPr>
          </a:p>
        </p:txBody>
      </p:sp>
      <p:sp>
        <p:nvSpPr>
          <p:cNvPr id="17" name="Rectangle: Rounded Corners 16">
            <a:extLst>
              <a:ext uri="{FF2B5EF4-FFF2-40B4-BE49-F238E27FC236}">
                <a16:creationId xmlns:a16="http://schemas.microsoft.com/office/drawing/2014/main" id="{BE3E21CE-AE97-45BB-93E7-AC4F08BBD539}"/>
              </a:ext>
            </a:extLst>
          </p:cNvPr>
          <p:cNvSpPr/>
          <p:nvPr/>
        </p:nvSpPr>
        <p:spPr>
          <a:xfrm>
            <a:off x="2754629" y="3100601"/>
            <a:ext cx="1367787" cy="320040"/>
          </a:xfrm>
          <a:prstGeom prst="roundRect">
            <a:avLst/>
          </a:prstGeom>
          <a:solidFill>
            <a:schemeClr val="bg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Media</a:t>
            </a:r>
            <a:endParaRPr lang="en-US" sz="1200" dirty="0">
              <a:solidFill>
                <a:schemeClr val="accent4"/>
              </a:solidFill>
            </a:endParaRPr>
          </a:p>
        </p:txBody>
      </p:sp>
      <p:sp>
        <p:nvSpPr>
          <p:cNvPr id="19" name="Rectangle: Rounded Corners 18">
            <a:extLst>
              <a:ext uri="{FF2B5EF4-FFF2-40B4-BE49-F238E27FC236}">
                <a16:creationId xmlns:a16="http://schemas.microsoft.com/office/drawing/2014/main" id="{BFEEA0BB-73AD-4C51-AF5D-7B8C31704BE7}"/>
              </a:ext>
            </a:extLst>
          </p:cNvPr>
          <p:cNvSpPr/>
          <p:nvPr/>
        </p:nvSpPr>
        <p:spPr>
          <a:xfrm>
            <a:off x="2754629" y="3553029"/>
            <a:ext cx="1367787" cy="320040"/>
          </a:xfrm>
          <a:prstGeom prst="roundRect">
            <a:avLst/>
          </a:prstGeom>
          <a:solidFill>
            <a:schemeClr val="bg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O&amp;M</a:t>
            </a:r>
            <a:endParaRPr lang="en-US" sz="1200" dirty="0">
              <a:solidFill>
                <a:schemeClr val="accent4"/>
              </a:solidFill>
            </a:endParaRPr>
          </a:p>
        </p:txBody>
      </p:sp>
      <p:sp>
        <p:nvSpPr>
          <p:cNvPr id="21" name="Rectangle: Rounded Corners 20">
            <a:extLst>
              <a:ext uri="{FF2B5EF4-FFF2-40B4-BE49-F238E27FC236}">
                <a16:creationId xmlns:a16="http://schemas.microsoft.com/office/drawing/2014/main" id="{4F2D90D4-F7B6-44B2-8C81-2AFC5C8A3A74}"/>
              </a:ext>
            </a:extLst>
          </p:cNvPr>
          <p:cNvSpPr/>
          <p:nvPr/>
        </p:nvSpPr>
        <p:spPr>
          <a:xfrm>
            <a:off x="2754629" y="4005457"/>
            <a:ext cx="1367787" cy="320040"/>
          </a:xfrm>
          <a:prstGeom prst="roundRect">
            <a:avLst/>
          </a:prstGeom>
          <a:solidFill>
            <a:schemeClr val="bg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Application </a:t>
            </a:r>
            <a:r>
              <a:rPr lang="fr-FR" sz="1200" dirty="0" err="1">
                <a:solidFill>
                  <a:schemeClr val="accent4"/>
                </a:solidFill>
              </a:rPr>
              <a:t>Enablers</a:t>
            </a:r>
            <a:endParaRPr lang="en-US" sz="1200" dirty="0">
              <a:solidFill>
                <a:schemeClr val="accent4"/>
              </a:solidFill>
            </a:endParaRPr>
          </a:p>
        </p:txBody>
      </p:sp>
      <p:sp>
        <p:nvSpPr>
          <p:cNvPr id="22" name="Rectangle: Rounded Corners 21">
            <a:extLst>
              <a:ext uri="{FF2B5EF4-FFF2-40B4-BE49-F238E27FC236}">
                <a16:creationId xmlns:a16="http://schemas.microsoft.com/office/drawing/2014/main" id="{0615BEF9-6696-4410-A413-3CD1A74E806E}"/>
              </a:ext>
            </a:extLst>
          </p:cNvPr>
          <p:cNvSpPr/>
          <p:nvPr/>
        </p:nvSpPr>
        <p:spPr>
          <a:xfrm>
            <a:off x="2754629" y="4440345"/>
            <a:ext cx="1367787" cy="320040"/>
          </a:xfrm>
          <a:prstGeom prst="roundRect">
            <a:avLst/>
          </a:prstGeom>
          <a:solidFill>
            <a:schemeClr val="bg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err="1">
                <a:solidFill>
                  <a:schemeClr val="accent4"/>
                </a:solidFill>
              </a:rPr>
              <a:t>Protocols</a:t>
            </a:r>
            <a:endParaRPr lang="en-US" sz="1200" dirty="0">
              <a:solidFill>
                <a:schemeClr val="accent4"/>
              </a:solidFill>
            </a:endParaRPr>
          </a:p>
        </p:txBody>
      </p:sp>
      <p:sp>
        <p:nvSpPr>
          <p:cNvPr id="23" name="Rectangle: Rounded Corners 22">
            <a:extLst>
              <a:ext uri="{FF2B5EF4-FFF2-40B4-BE49-F238E27FC236}">
                <a16:creationId xmlns:a16="http://schemas.microsoft.com/office/drawing/2014/main" id="{0DF8B91D-5512-4ADB-A4A5-A65B82A18F22}"/>
              </a:ext>
            </a:extLst>
          </p:cNvPr>
          <p:cNvSpPr/>
          <p:nvPr/>
        </p:nvSpPr>
        <p:spPr>
          <a:xfrm>
            <a:off x="2754629" y="2225058"/>
            <a:ext cx="1367787" cy="320040"/>
          </a:xfrm>
          <a:prstGeom prst="roundRect">
            <a:avLst/>
          </a:prstGeom>
          <a:solidFill>
            <a:schemeClr val="bg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Architecture</a:t>
            </a:r>
            <a:endParaRPr lang="en-US" sz="1200" dirty="0">
              <a:solidFill>
                <a:schemeClr val="accent4"/>
              </a:solidFill>
            </a:endParaRPr>
          </a:p>
        </p:txBody>
      </p:sp>
      <p:cxnSp>
        <p:nvCxnSpPr>
          <p:cNvPr id="8" name="Connector: Elbow 7">
            <a:extLst>
              <a:ext uri="{FF2B5EF4-FFF2-40B4-BE49-F238E27FC236}">
                <a16:creationId xmlns:a16="http://schemas.microsoft.com/office/drawing/2014/main" id="{893FE89F-5C0A-4BF8-B6A2-D8F9D0AAB5D5}"/>
              </a:ext>
            </a:extLst>
          </p:cNvPr>
          <p:cNvCxnSpPr>
            <a:cxnSpLocks/>
            <a:stCxn id="6" idx="2"/>
            <a:endCxn id="23" idx="1"/>
          </p:cNvCxnSpPr>
          <p:nvPr/>
        </p:nvCxnSpPr>
        <p:spPr>
          <a:xfrm rot="16200000" flipH="1">
            <a:off x="2071338" y="1701787"/>
            <a:ext cx="310022" cy="105656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2A55CB90-3493-41A3-BB31-93E25C553FA1}"/>
              </a:ext>
            </a:extLst>
          </p:cNvPr>
          <p:cNvCxnSpPr>
            <a:cxnSpLocks/>
            <a:stCxn id="6" idx="2"/>
            <a:endCxn id="16" idx="1"/>
          </p:cNvCxnSpPr>
          <p:nvPr/>
        </p:nvCxnSpPr>
        <p:spPr>
          <a:xfrm rot="16200000" flipH="1">
            <a:off x="1845124" y="1928001"/>
            <a:ext cx="762450" cy="105656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91E70245-1178-4B9C-A318-62EA7A337DAB}"/>
              </a:ext>
            </a:extLst>
          </p:cNvPr>
          <p:cNvCxnSpPr>
            <a:cxnSpLocks/>
            <a:stCxn id="6" idx="2"/>
            <a:endCxn id="17" idx="1"/>
          </p:cNvCxnSpPr>
          <p:nvPr/>
        </p:nvCxnSpPr>
        <p:spPr>
          <a:xfrm rot="16200000" flipH="1">
            <a:off x="1633567" y="2139558"/>
            <a:ext cx="1185565" cy="105656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F63B58A8-4301-4E1A-916E-C1E67C226E76}"/>
              </a:ext>
            </a:extLst>
          </p:cNvPr>
          <p:cNvCxnSpPr>
            <a:cxnSpLocks/>
            <a:stCxn id="6" idx="2"/>
            <a:endCxn id="19" idx="1"/>
          </p:cNvCxnSpPr>
          <p:nvPr/>
        </p:nvCxnSpPr>
        <p:spPr>
          <a:xfrm rot="16200000" flipH="1">
            <a:off x="1407353" y="2365772"/>
            <a:ext cx="1637993" cy="105656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AACCD605-3F8D-4E73-96C8-21FBC38DB352}"/>
              </a:ext>
            </a:extLst>
          </p:cNvPr>
          <p:cNvCxnSpPr>
            <a:cxnSpLocks/>
            <a:stCxn id="6" idx="2"/>
            <a:endCxn id="21" idx="1"/>
          </p:cNvCxnSpPr>
          <p:nvPr/>
        </p:nvCxnSpPr>
        <p:spPr>
          <a:xfrm rot="16200000" flipH="1">
            <a:off x="1181139" y="2591986"/>
            <a:ext cx="2090421" cy="105656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9C90D635-5E34-4B51-B048-DBCDB58F357E}"/>
              </a:ext>
            </a:extLst>
          </p:cNvPr>
          <p:cNvCxnSpPr>
            <a:cxnSpLocks/>
            <a:stCxn id="6" idx="2"/>
            <a:endCxn id="22" idx="1"/>
          </p:cNvCxnSpPr>
          <p:nvPr/>
        </p:nvCxnSpPr>
        <p:spPr>
          <a:xfrm rot="16200000" flipH="1">
            <a:off x="963695" y="2809430"/>
            <a:ext cx="2525309" cy="1056560"/>
          </a:xfrm>
          <a:prstGeom prst="bentConnector2">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Rectangle: Rounded Corners 50">
            <a:extLst>
              <a:ext uri="{FF2B5EF4-FFF2-40B4-BE49-F238E27FC236}">
                <a16:creationId xmlns:a16="http://schemas.microsoft.com/office/drawing/2014/main" id="{BA625762-13D6-4B2F-A263-7A8A64E5ABCE}"/>
              </a:ext>
            </a:extLst>
          </p:cNvPr>
          <p:cNvSpPr/>
          <p:nvPr/>
        </p:nvSpPr>
        <p:spPr>
          <a:xfrm>
            <a:off x="5566412" y="1757722"/>
            <a:ext cx="1150620" cy="32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Service </a:t>
            </a:r>
            <a:r>
              <a:rPr lang="fr-FR" sz="1200" dirty="0" err="1">
                <a:solidFill>
                  <a:schemeClr val="accent4"/>
                </a:solidFill>
              </a:rPr>
              <a:t>requirements</a:t>
            </a:r>
            <a:endParaRPr lang="en-US" sz="1200" dirty="0">
              <a:solidFill>
                <a:schemeClr val="accent4"/>
              </a:solidFill>
            </a:endParaRPr>
          </a:p>
        </p:txBody>
      </p:sp>
      <p:sp>
        <p:nvSpPr>
          <p:cNvPr id="52" name="Rectangle: Rounded Corners 51">
            <a:extLst>
              <a:ext uri="{FF2B5EF4-FFF2-40B4-BE49-F238E27FC236}">
                <a16:creationId xmlns:a16="http://schemas.microsoft.com/office/drawing/2014/main" id="{90DF57C2-5065-4097-B090-3067E123C376}"/>
              </a:ext>
            </a:extLst>
          </p:cNvPr>
          <p:cNvSpPr/>
          <p:nvPr/>
        </p:nvSpPr>
        <p:spPr>
          <a:xfrm>
            <a:off x="6559551" y="2671477"/>
            <a:ext cx="1150620" cy="32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Security</a:t>
            </a:r>
            <a:endParaRPr lang="en-US" sz="1200" dirty="0">
              <a:solidFill>
                <a:schemeClr val="accent4"/>
              </a:solidFill>
            </a:endParaRPr>
          </a:p>
        </p:txBody>
      </p:sp>
      <p:sp>
        <p:nvSpPr>
          <p:cNvPr id="53" name="Rectangle: Rounded Corners 52">
            <a:extLst>
              <a:ext uri="{FF2B5EF4-FFF2-40B4-BE49-F238E27FC236}">
                <a16:creationId xmlns:a16="http://schemas.microsoft.com/office/drawing/2014/main" id="{E5089DED-CEA4-4D79-BA2E-2959624881B1}"/>
              </a:ext>
            </a:extLst>
          </p:cNvPr>
          <p:cNvSpPr/>
          <p:nvPr/>
        </p:nvSpPr>
        <p:spPr>
          <a:xfrm>
            <a:off x="6559551" y="3094592"/>
            <a:ext cx="1150620" cy="32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Media</a:t>
            </a:r>
            <a:endParaRPr lang="en-US" sz="1200" dirty="0">
              <a:solidFill>
                <a:schemeClr val="accent4"/>
              </a:solidFill>
            </a:endParaRPr>
          </a:p>
        </p:txBody>
      </p:sp>
      <p:sp>
        <p:nvSpPr>
          <p:cNvPr id="54" name="Rectangle: Rounded Corners 53">
            <a:extLst>
              <a:ext uri="{FF2B5EF4-FFF2-40B4-BE49-F238E27FC236}">
                <a16:creationId xmlns:a16="http://schemas.microsoft.com/office/drawing/2014/main" id="{EA6AC967-A882-4C0A-A186-079CC95462FA}"/>
              </a:ext>
            </a:extLst>
          </p:cNvPr>
          <p:cNvSpPr/>
          <p:nvPr/>
        </p:nvSpPr>
        <p:spPr>
          <a:xfrm>
            <a:off x="6559551" y="3547020"/>
            <a:ext cx="1150620" cy="32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O&amp;M</a:t>
            </a:r>
            <a:endParaRPr lang="en-US" sz="1200" dirty="0">
              <a:solidFill>
                <a:schemeClr val="accent4"/>
              </a:solidFill>
            </a:endParaRPr>
          </a:p>
        </p:txBody>
      </p:sp>
      <p:sp>
        <p:nvSpPr>
          <p:cNvPr id="55" name="Rectangle: Rounded Corners 54">
            <a:extLst>
              <a:ext uri="{FF2B5EF4-FFF2-40B4-BE49-F238E27FC236}">
                <a16:creationId xmlns:a16="http://schemas.microsoft.com/office/drawing/2014/main" id="{5FBC0B45-835C-440E-A0F9-BC040A297B00}"/>
              </a:ext>
            </a:extLst>
          </p:cNvPr>
          <p:cNvSpPr/>
          <p:nvPr/>
        </p:nvSpPr>
        <p:spPr>
          <a:xfrm>
            <a:off x="6559551" y="3999448"/>
            <a:ext cx="1150620" cy="32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Application </a:t>
            </a:r>
            <a:r>
              <a:rPr lang="fr-FR" sz="1200" dirty="0" err="1">
                <a:solidFill>
                  <a:schemeClr val="accent4"/>
                </a:solidFill>
              </a:rPr>
              <a:t>Enablers</a:t>
            </a:r>
            <a:endParaRPr lang="en-US" sz="1200" dirty="0">
              <a:solidFill>
                <a:schemeClr val="accent4"/>
              </a:solidFill>
            </a:endParaRPr>
          </a:p>
        </p:txBody>
      </p:sp>
      <p:sp>
        <p:nvSpPr>
          <p:cNvPr id="56" name="Rectangle: Rounded Corners 55">
            <a:extLst>
              <a:ext uri="{FF2B5EF4-FFF2-40B4-BE49-F238E27FC236}">
                <a16:creationId xmlns:a16="http://schemas.microsoft.com/office/drawing/2014/main" id="{0ECD3FDF-FA5B-4D62-AD36-A24A6B4AEBE0}"/>
              </a:ext>
            </a:extLst>
          </p:cNvPr>
          <p:cNvSpPr/>
          <p:nvPr/>
        </p:nvSpPr>
        <p:spPr>
          <a:xfrm>
            <a:off x="6559551" y="4434336"/>
            <a:ext cx="1150620" cy="32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err="1">
                <a:solidFill>
                  <a:schemeClr val="accent4"/>
                </a:solidFill>
              </a:rPr>
              <a:t>Protocols</a:t>
            </a:r>
            <a:endParaRPr lang="en-US" sz="1200" dirty="0">
              <a:solidFill>
                <a:schemeClr val="accent4"/>
              </a:solidFill>
            </a:endParaRPr>
          </a:p>
        </p:txBody>
      </p:sp>
      <p:sp>
        <p:nvSpPr>
          <p:cNvPr id="57" name="Rectangle: Rounded Corners 56">
            <a:extLst>
              <a:ext uri="{FF2B5EF4-FFF2-40B4-BE49-F238E27FC236}">
                <a16:creationId xmlns:a16="http://schemas.microsoft.com/office/drawing/2014/main" id="{656A2897-6CD6-4EE1-B09C-DFD2261ADA6E}"/>
              </a:ext>
            </a:extLst>
          </p:cNvPr>
          <p:cNvSpPr/>
          <p:nvPr/>
        </p:nvSpPr>
        <p:spPr>
          <a:xfrm>
            <a:off x="6559551" y="2219049"/>
            <a:ext cx="1150620" cy="3200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dirty="0">
                <a:solidFill>
                  <a:schemeClr val="accent4"/>
                </a:solidFill>
              </a:rPr>
              <a:t>Architecture</a:t>
            </a:r>
            <a:endParaRPr lang="en-US" sz="1200" dirty="0">
              <a:solidFill>
                <a:schemeClr val="accent4"/>
              </a:solidFill>
            </a:endParaRPr>
          </a:p>
        </p:txBody>
      </p:sp>
      <p:cxnSp>
        <p:nvCxnSpPr>
          <p:cNvPr id="65" name="Connector: Elbow 64">
            <a:extLst>
              <a:ext uri="{FF2B5EF4-FFF2-40B4-BE49-F238E27FC236}">
                <a16:creationId xmlns:a16="http://schemas.microsoft.com/office/drawing/2014/main" id="{F833CFCF-0022-4A1E-835D-8955265CCB66}"/>
              </a:ext>
            </a:extLst>
          </p:cNvPr>
          <p:cNvCxnSpPr>
            <a:stCxn id="57" idx="3"/>
            <a:endCxn id="52" idx="3"/>
          </p:cNvCxnSpPr>
          <p:nvPr/>
        </p:nvCxnSpPr>
        <p:spPr>
          <a:xfrm>
            <a:off x="7710171" y="2379069"/>
            <a:ext cx="12700" cy="452428"/>
          </a:xfrm>
          <a:prstGeom prst="bentConnector3">
            <a:avLst>
              <a:gd name="adj1" fmla="val 18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6" name="Connector: Elbow 65">
            <a:extLst>
              <a:ext uri="{FF2B5EF4-FFF2-40B4-BE49-F238E27FC236}">
                <a16:creationId xmlns:a16="http://schemas.microsoft.com/office/drawing/2014/main" id="{5010D166-7C51-4DEE-B32F-90CA2CAAF2BE}"/>
              </a:ext>
            </a:extLst>
          </p:cNvPr>
          <p:cNvCxnSpPr>
            <a:stCxn id="57" idx="3"/>
            <a:endCxn id="53" idx="3"/>
          </p:cNvCxnSpPr>
          <p:nvPr/>
        </p:nvCxnSpPr>
        <p:spPr>
          <a:xfrm>
            <a:off x="7710171" y="2379069"/>
            <a:ext cx="12700" cy="875543"/>
          </a:xfrm>
          <a:prstGeom prst="bentConnector3">
            <a:avLst>
              <a:gd name="adj1" fmla="val 18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7" name="Connector: Elbow 66">
            <a:extLst>
              <a:ext uri="{FF2B5EF4-FFF2-40B4-BE49-F238E27FC236}">
                <a16:creationId xmlns:a16="http://schemas.microsoft.com/office/drawing/2014/main" id="{4FE2BDD7-B4F1-43B9-A9A7-6727F2B1C945}"/>
              </a:ext>
            </a:extLst>
          </p:cNvPr>
          <p:cNvCxnSpPr>
            <a:stCxn id="57" idx="3"/>
            <a:endCxn id="54" idx="3"/>
          </p:cNvCxnSpPr>
          <p:nvPr/>
        </p:nvCxnSpPr>
        <p:spPr>
          <a:xfrm>
            <a:off x="7710171" y="2379069"/>
            <a:ext cx="12700" cy="1327971"/>
          </a:xfrm>
          <a:prstGeom prst="bentConnector3">
            <a:avLst>
              <a:gd name="adj1" fmla="val 18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D616D84B-DEE1-4B56-9FF3-A5701EA5246B}"/>
              </a:ext>
            </a:extLst>
          </p:cNvPr>
          <p:cNvCxnSpPr>
            <a:stCxn id="57" idx="3"/>
            <a:endCxn id="55" idx="3"/>
          </p:cNvCxnSpPr>
          <p:nvPr/>
        </p:nvCxnSpPr>
        <p:spPr>
          <a:xfrm>
            <a:off x="7710171" y="2379069"/>
            <a:ext cx="12700" cy="1780399"/>
          </a:xfrm>
          <a:prstGeom prst="bentConnector3">
            <a:avLst>
              <a:gd name="adj1" fmla="val 18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E82248C1-988C-4281-9FD2-9DF3F256D6E7}"/>
              </a:ext>
            </a:extLst>
          </p:cNvPr>
          <p:cNvCxnSpPr>
            <a:stCxn id="57" idx="3"/>
            <a:endCxn id="56" idx="3"/>
          </p:cNvCxnSpPr>
          <p:nvPr/>
        </p:nvCxnSpPr>
        <p:spPr>
          <a:xfrm>
            <a:off x="7710171" y="2379069"/>
            <a:ext cx="12700" cy="2215287"/>
          </a:xfrm>
          <a:prstGeom prst="bentConnector3">
            <a:avLst>
              <a:gd name="adj1" fmla="val 180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CCF65E0-05DE-415C-97F7-26B4EF37B6FF}"/>
              </a:ext>
            </a:extLst>
          </p:cNvPr>
          <p:cNvCxnSpPr>
            <a:cxnSpLocks/>
            <a:stCxn id="6" idx="3"/>
            <a:endCxn id="51" idx="1"/>
          </p:cNvCxnSpPr>
          <p:nvPr/>
        </p:nvCxnSpPr>
        <p:spPr>
          <a:xfrm>
            <a:off x="2273379" y="1915036"/>
            <a:ext cx="3293033" cy="27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3CF2C7C1-7718-4B04-9A28-0A67C3A79827}"/>
              </a:ext>
            </a:extLst>
          </p:cNvPr>
          <p:cNvCxnSpPr>
            <a:cxnSpLocks/>
            <a:stCxn id="23" idx="3"/>
            <a:endCxn id="57" idx="1"/>
          </p:cNvCxnSpPr>
          <p:nvPr/>
        </p:nvCxnSpPr>
        <p:spPr>
          <a:xfrm flipV="1">
            <a:off x="4122416" y="2379069"/>
            <a:ext cx="2437135" cy="6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FDDD7307-596C-48C6-A848-8EAE20579DB5}"/>
              </a:ext>
            </a:extLst>
          </p:cNvPr>
          <p:cNvCxnSpPr>
            <a:cxnSpLocks/>
            <a:stCxn id="16" idx="3"/>
            <a:endCxn id="52" idx="1"/>
          </p:cNvCxnSpPr>
          <p:nvPr/>
        </p:nvCxnSpPr>
        <p:spPr>
          <a:xfrm flipV="1">
            <a:off x="4122416" y="2831497"/>
            <a:ext cx="2437135" cy="6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AB529E9D-8E45-4323-B3A7-A610E0F6B9B4}"/>
              </a:ext>
            </a:extLst>
          </p:cNvPr>
          <p:cNvCxnSpPr>
            <a:cxnSpLocks/>
            <a:stCxn id="17" idx="3"/>
            <a:endCxn id="53" idx="1"/>
          </p:cNvCxnSpPr>
          <p:nvPr/>
        </p:nvCxnSpPr>
        <p:spPr>
          <a:xfrm flipV="1">
            <a:off x="4122416" y="3254612"/>
            <a:ext cx="2437135" cy="6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B8B320D4-8CE9-4323-867B-1CDDE2E6BCED}"/>
              </a:ext>
            </a:extLst>
          </p:cNvPr>
          <p:cNvCxnSpPr>
            <a:cxnSpLocks/>
            <a:stCxn id="19" idx="3"/>
            <a:endCxn id="54" idx="1"/>
          </p:cNvCxnSpPr>
          <p:nvPr/>
        </p:nvCxnSpPr>
        <p:spPr>
          <a:xfrm flipV="1">
            <a:off x="4122416" y="3707040"/>
            <a:ext cx="2437135" cy="6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2F248DC9-6F66-42C8-93AE-F36FD0835BEE}"/>
              </a:ext>
            </a:extLst>
          </p:cNvPr>
          <p:cNvCxnSpPr>
            <a:cxnSpLocks/>
            <a:stCxn id="21" idx="3"/>
            <a:endCxn id="55" idx="1"/>
          </p:cNvCxnSpPr>
          <p:nvPr/>
        </p:nvCxnSpPr>
        <p:spPr>
          <a:xfrm flipV="1">
            <a:off x="4122416" y="4159468"/>
            <a:ext cx="2437135" cy="6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4D0477ED-68CD-42AE-9727-65C247F83DCF}"/>
              </a:ext>
            </a:extLst>
          </p:cNvPr>
          <p:cNvCxnSpPr>
            <a:cxnSpLocks/>
            <a:stCxn id="22" idx="3"/>
            <a:endCxn id="56" idx="1"/>
          </p:cNvCxnSpPr>
          <p:nvPr/>
        </p:nvCxnSpPr>
        <p:spPr>
          <a:xfrm flipV="1">
            <a:off x="4122416" y="4594356"/>
            <a:ext cx="2437135" cy="60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19E74047-4F71-4533-9672-AA8C192AD3DF}"/>
              </a:ext>
            </a:extLst>
          </p:cNvPr>
          <p:cNvCxnSpPr>
            <a:stCxn id="51" idx="3"/>
            <a:endCxn id="57" idx="3"/>
          </p:cNvCxnSpPr>
          <p:nvPr/>
        </p:nvCxnSpPr>
        <p:spPr>
          <a:xfrm>
            <a:off x="6717032" y="1917742"/>
            <a:ext cx="993139" cy="461327"/>
          </a:xfrm>
          <a:prstGeom prst="bentConnector3">
            <a:avLst>
              <a:gd name="adj1" fmla="val 123018"/>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FB77CD59-E844-4F7D-95DC-968AC959CE49}"/>
              </a:ext>
            </a:extLst>
          </p:cNvPr>
          <p:cNvCxnSpPr>
            <a:cxnSpLocks/>
          </p:cNvCxnSpPr>
          <p:nvPr/>
        </p:nvCxnSpPr>
        <p:spPr bwMode="auto">
          <a:xfrm>
            <a:off x="158699" y="914963"/>
            <a:ext cx="1451326" cy="0"/>
          </a:xfrm>
          <a:prstGeom prst="line">
            <a:avLst/>
          </a:prstGeom>
          <a:noFill/>
          <a:ln w="9525" cap="flat" cmpd="sng" algn="ctr">
            <a:solidFill>
              <a:srgbClr val="8064A2">
                <a:lumMod val="40000"/>
                <a:lumOff val="60000"/>
              </a:srgbClr>
            </a:solidFill>
            <a:prstDash val="solid"/>
            <a:headEnd type="oval" w="med" len="med"/>
            <a:tailEnd type="oval" w="med" len="med"/>
          </a:ln>
          <a:effectLst/>
        </p:spPr>
      </p:cxnSp>
      <p:sp>
        <p:nvSpPr>
          <p:cNvPr id="128" name="TextBox 127">
            <a:extLst>
              <a:ext uri="{FF2B5EF4-FFF2-40B4-BE49-F238E27FC236}">
                <a16:creationId xmlns:a16="http://schemas.microsoft.com/office/drawing/2014/main" id="{EE58B84F-33D9-4977-A5A7-379D2522254C}"/>
              </a:ext>
            </a:extLst>
          </p:cNvPr>
          <p:cNvSpPr txBox="1"/>
          <p:nvPr/>
        </p:nvSpPr>
        <p:spPr>
          <a:xfrm>
            <a:off x="678514" y="804446"/>
            <a:ext cx="472835" cy="215444"/>
          </a:xfrm>
          <a:prstGeom prst="rect">
            <a:avLst/>
          </a:prstGeom>
          <a:solidFill>
            <a:srgbClr val="8064A2">
              <a:lumMod val="60000"/>
              <a:lumOff val="40000"/>
            </a:srgbClr>
          </a:solidFill>
          <a:ln>
            <a:noFill/>
          </a:ln>
          <a:effectLst/>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white"/>
                </a:solidFill>
                <a:effectLst/>
                <a:uLnTx/>
                <a:uFillTx/>
                <a:latin typeface="Montserrat" panose="00000500000000000000" pitchFamily="50" charset="0"/>
                <a:ea typeface="+mn-ea"/>
                <a:cs typeface="+mn-cs"/>
              </a:rPr>
              <a:t>2024</a:t>
            </a:r>
          </a:p>
        </p:txBody>
      </p:sp>
      <p:cxnSp>
        <p:nvCxnSpPr>
          <p:cNvPr id="129" name="Straight Connector 128">
            <a:extLst>
              <a:ext uri="{FF2B5EF4-FFF2-40B4-BE49-F238E27FC236}">
                <a16:creationId xmlns:a16="http://schemas.microsoft.com/office/drawing/2014/main" id="{D9716EC0-5EF2-4050-9308-0D8F1AB991A5}"/>
              </a:ext>
            </a:extLst>
          </p:cNvPr>
          <p:cNvCxnSpPr>
            <a:cxnSpLocks/>
          </p:cNvCxnSpPr>
          <p:nvPr/>
        </p:nvCxnSpPr>
        <p:spPr bwMode="auto">
          <a:xfrm>
            <a:off x="1610025" y="914963"/>
            <a:ext cx="1451326" cy="0"/>
          </a:xfrm>
          <a:prstGeom prst="line">
            <a:avLst/>
          </a:prstGeom>
          <a:noFill/>
          <a:ln w="9525" cap="flat" cmpd="sng" algn="ctr">
            <a:solidFill>
              <a:srgbClr val="8064A2">
                <a:lumMod val="40000"/>
                <a:lumOff val="60000"/>
              </a:srgbClr>
            </a:solidFill>
            <a:prstDash val="solid"/>
            <a:headEnd type="oval" w="med" len="med"/>
            <a:tailEnd type="oval" w="med" len="med"/>
          </a:ln>
          <a:effectLst/>
        </p:spPr>
      </p:cxnSp>
      <p:sp>
        <p:nvSpPr>
          <p:cNvPr id="130" name="TextBox 129">
            <a:extLst>
              <a:ext uri="{FF2B5EF4-FFF2-40B4-BE49-F238E27FC236}">
                <a16:creationId xmlns:a16="http://schemas.microsoft.com/office/drawing/2014/main" id="{C76B493D-7D61-4088-8FDA-AF9490609FA1}"/>
              </a:ext>
            </a:extLst>
          </p:cNvPr>
          <p:cNvSpPr txBox="1"/>
          <p:nvPr/>
        </p:nvSpPr>
        <p:spPr>
          <a:xfrm>
            <a:off x="2129840" y="804446"/>
            <a:ext cx="424537" cy="215444"/>
          </a:xfrm>
          <a:prstGeom prst="rect">
            <a:avLst/>
          </a:prstGeom>
          <a:solidFill>
            <a:srgbClr val="8064A2">
              <a:lumMod val="60000"/>
              <a:lumOff val="40000"/>
            </a:srgbClr>
          </a:solidFill>
          <a:ln>
            <a:noFill/>
          </a:ln>
          <a:effectLst/>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white"/>
                </a:solidFill>
                <a:effectLst/>
                <a:uLnTx/>
                <a:uFillTx/>
                <a:latin typeface="Montserrat" panose="00000500000000000000" pitchFamily="50" charset="0"/>
                <a:ea typeface="+mn-ea"/>
                <a:cs typeface="+mn-cs"/>
              </a:rPr>
              <a:t>2025</a:t>
            </a:r>
          </a:p>
        </p:txBody>
      </p:sp>
      <p:cxnSp>
        <p:nvCxnSpPr>
          <p:cNvPr id="131" name="Straight Connector 130">
            <a:extLst>
              <a:ext uri="{FF2B5EF4-FFF2-40B4-BE49-F238E27FC236}">
                <a16:creationId xmlns:a16="http://schemas.microsoft.com/office/drawing/2014/main" id="{4DCA89A0-BE5B-48FD-90F5-3F0FA004987F}"/>
              </a:ext>
            </a:extLst>
          </p:cNvPr>
          <p:cNvCxnSpPr>
            <a:cxnSpLocks/>
          </p:cNvCxnSpPr>
          <p:nvPr/>
        </p:nvCxnSpPr>
        <p:spPr bwMode="auto">
          <a:xfrm>
            <a:off x="3061351" y="914963"/>
            <a:ext cx="1451326" cy="0"/>
          </a:xfrm>
          <a:prstGeom prst="line">
            <a:avLst/>
          </a:prstGeom>
          <a:noFill/>
          <a:ln w="9525" cap="flat" cmpd="sng" algn="ctr">
            <a:solidFill>
              <a:srgbClr val="8064A2">
                <a:lumMod val="40000"/>
                <a:lumOff val="60000"/>
              </a:srgbClr>
            </a:solidFill>
            <a:prstDash val="solid"/>
            <a:headEnd type="none" w="med" len="med"/>
            <a:tailEnd type="none" w="med" len="med"/>
          </a:ln>
          <a:effectLst/>
        </p:spPr>
      </p:cxnSp>
      <p:sp>
        <p:nvSpPr>
          <p:cNvPr id="132" name="TextBox 131">
            <a:extLst>
              <a:ext uri="{FF2B5EF4-FFF2-40B4-BE49-F238E27FC236}">
                <a16:creationId xmlns:a16="http://schemas.microsoft.com/office/drawing/2014/main" id="{8AA62F24-0948-46F4-A0DC-091A53247E19}"/>
              </a:ext>
            </a:extLst>
          </p:cNvPr>
          <p:cNvSpPr txBox="1"/>
          <p:nvPr/>
        </p:nvSpPr>
        <p:spPr>
          <a:xfrm>
            <a:off x="3581166" y="804446"/>
            <a:ext cx="424537" cy="215444"/>
          </a:xfrm>
          <a:prstGeom prst="rect">
            <a:avLst/>
          </a:prstGeom>
          <a:solidFill>
            <a:srgbClr val="8064A2">
              <a:lumMod val="60000"/>
              <a:lumOff val="40000"/>
            </a:srgbClr>
          </a:solidFill>
          <a:ln>
            <a:noFill/>
          </a:ln>
          <a:effectLst/>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white"/>
                </a:solidFill>
                <a:effectLst/>
                <a:uLnTx/>
                <a:uFillTx/>
                <a:latin typeface="Montserrat" panose="00000500000000000000" pitchFamily="50" charset="0"/>
                <a:ea typeface="+mn-ea"/>
                <a:cs typeface="+mn-cs"/>
              </a:rPr>
              <a:t>2026</a:t>
            </a:r>
          </a:p>
        </p:txBody>
      </p:sp>
      <p:cxnSp>
        <p:nvCxnSpPr>
          <p:cNvPr id="133" name="Straight Connector 132">
            <a:extLst>
              <a:ext uri="{FF2B5EF4-FFF2-40B4-BE49-F238E27FC236}">
                <a16:creationId xmlns:a16="http://schemas.microsoft.com/office/drawing/2014/main" id="{BFB53CD1-561D-4BCF-8C2B-375C686F2AE9}"/>
              </a:ext>
            </a:extLst>
          </p:cNvPr>
          <p:cNvCxnSpPr>
            <a:cxnSpLocks/>
          </p:cNvCxnSpPr>
          <p:nvPr/>
        </p:nvCxnSpPr>
        <p:spPr bwMode="auto">
          <a:xfrm>
            <a:off x="4512677" y="914963"/>
            <a:ext cx="1451326" cy="0"/>
          </a:xfrm>
          <a:prstGeom prst="line">
            <a:avLst/>
          </a:prstGeom>
          <a:noFill/>
          <a:ln w="9525" cap="flat" cmpd="sng" algn="ctr">
            <a:solidFill>
              <a:srgbClr val="8064A2">
                <a:lumMod val="40000"/>
                <a:lumOff val="60000"/>
              </a:srgbClr>
            </a:solidFill>
            <a:prstDash val="solid"/>
            <a:headEnd type="oval" w="med" len="med"/>
            <a:tailEnd type="oval" w="med" len="med"/>
          </a:ln>
          <a:effectLst/>
        </p:spPr>
      </p:cxnSp>
      <p:sp>
        <p:nvSpPr>
          <p:cNvPr id="134" name="TextBox 133">
            <a:extLst>
              <a:ext uri="{FF2B5EF4-FFF2-40B4-BE49-F238E27FC236}">
                <a16:creationId xmlns:a16="http://schemas.microsoft.com/office/drawing/2014/main" id="{C7B3C93C-B01B-4B76-8C07-EAEFECC9A3FC}"/>
              </a:ext>
            </a:extLst>
          </p:cNvPr>
          <p:cNvSpPr txBox="1"/>
          <p:nvPr/>
        </p:nvSpPr>
        <p:spPr>
          <a:xfrm>
            <a:off x="5032492" y="804446"/>
            <a:ext cx="424537" cy="215444"/>
          </a:xfrm>
          <a:prstGeom prst="rect">
            <a:avLst/>
          </a:prstGeom>
          <a:solidFill>
            <a:srgbClr val="8064A2">
              <a:lumMod val="60000"/>
              <a:lumOff val="40000"/>
            </a:srgbClr>
          </a:solidFill>
          <a:ln>
            <a:noFill/>
          </a:ln>
          <a:effectLst/>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white"/>
                </a:solidFill>
                <a:effectLst/>
                <a:uLnTx/>
                <a:uFillTx/>
                <a:latin typeface="Montserrat" panose="00000500000000000000" pitchFamily="50" charset="0"/>
                <a:ea typeface="+mn-ea"/>
                <a:cs typeface="+mn-cs"/>
              </a:rPr>
              <a:t>2027</a:t>
            </a:r>
          </a:p>
        </p:txBody>
      </p:sp>
      <p:cxnSp>
        <p:nvCxnSpPr>
          <p:cNvPr id="135" name="Straight Connector 134">
            <a:extLst>
              <a:ext uri="{FF2B5EF4-FFF2-40B4-BE49-F238E27FC236}">
                <a16:creationId xmlns:a16="http://schemas.microsoft.com/office/drawing/2014/main" id="{3562906E-E830-4111-90CD-883BBB1F2471}"/>
              </a:ext>
            </a:extLst>
          </p:cNvPr>
          <p:cNvCxnSpPr>
            <a:cxnSpLocks/>
          </p:cNvCxnSpPr>
          <p:nvPr/>
        </p:nvCxnSpPr>
        <p:spPr bwMode="auto">
          <a:xfrm>
            <a:off x="5964003" y="914963"/>
            <a:ext cx="1451326" cy="0"/>
          </a:xfrm>
          <a:prstGeom prst="line">
            <a:avLst/>
          </a:prstGeom>
          <a:noFill/>
          <a:ln w="9525" cap="flat" cmpd="sng" algn="ctr">
            <a:solidFill>
              <a:srgbClr val="8064A2">
                <a:lumMod val="40000"/>
                <a:lumOff val="60000"/>
              </a:srgbClr>
            </a:solidFill>
            <a:prstDash val="solid"/>
            <a:headEnd type="oval" w="med" len="med"/>
            <a:tailEnd type="oval" w="med" len="med"/>
          </a:ln>
          <a:effectLst/>
        </p:spPr>
      </p:cxnSp>
      <p:sp>
        <p:nvSpPr>
          <p:cNvPr id="136" name="TextBox 135">
            <a:extLst>
              <a:ext uri="{FF2B5EF4-FFF2-40B4-BE49-F238E27FC236}">
                <a16:creationId xmlns:a16="http://schemas.microsoft.com/office/drawing/2014/main" id="{C7B49342-7B75-4DF9-81E4-36C8FB22F0D1}"/>
              </a:ext>
            </a:extLst>
          </p:cNvPr>
          <p:cNvSpPr txBox="1"/>
          <p:nvPr/>
        </p:nvSpPr>
        <p:spPr>
          <a:xfrm>
            <a:off x="6483818" y="804446"/>
            <a:ext cx="424537" cy="215444"/>
          </a:xfrm>
          <a:prstGeom prst="rect">
            <a:avLst/>
          </a:prstGeom>
          <a:solidFill>
            <a:srgbClr val="8064A2">
              <a:lumMod val="60000"/>
              <a:lumOff val="40000"/>
            </a:srgbClr>
          </a:solidFill>
          <a:ln>
            <a:noFill/>
          </a:ln>
          <a:effectLst/>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white"/>
                </a:solidFill>
                <a:effectLst/>
                <a:uLnTx/>
                <a:uFillTx/>
                <a:latin typeface="Montserrat" panose="00000500000000000000" pitchFamily="50" charset="0"/>
                <a:ea typeface="+mn-ea"/>
                <a:cs typeface="+mn-cs"/>
              </a:rPr>
              <a:t>2028</a:t>
            </a:r>
          </a:p>
        </p:txBody>
      </p:sp>
      <p:cxnSp>
        <p:nvCxnSpPr>
          <p:cNvPr id="137" name="Straight Connector 136">
            <a:extLst>
              <a:ext uri="{FF2B5EF4-FFF2-40B4-BE49-F238E27FC236}">
                <a16:creationId xmlns:a16="http://schemas.microsoft.com/office/drawing/2014/main" id="{56EB688C-8BB5-4DFD-91C5-6F3137E42F34}"/>
              </a:ext>
            </a:extLst>
          </p:cNvPr>
          <p:cNvCxnSpPr>
            <a:cxnSpLocks/>
          </p:cNvCxnSpPr>
          <p:nvPr/>
        </p:nvCxnSpPr>
        <p:spPr bwMode="auto">
          <a:xfrm>
            <a:off x="7415329" y="914963"/>
            <a:ext cx="1451326" cy="0"/>
          </a:xfrm>
          <a:prstGeom prst="line">
            <a:avLst/>
          </a:prstGeom>
          <a:noFill/>
          <a:ln w="9525" cap="flat" cmpd="sng" algn="ctr">
            <a:solidFill>
              <a:srgbClr val="8064A2">
                <a:lumMod val="40000"/>
                <a:lumOff val="60000"/>
              </a:srgbClr>
            </a:solidFill>
            <a:prstDash val="solid"/>
            <a:headEnd type="oval" w="med" len="med"/>
            <a:tailEnd type="oval" w="med" len="med"/>
          </a:ln>
          <a:effectLst/>
        </p:spPr>
      </p:cxnSp>
      <p:sp>
        <p:nvSpPr>
          <p:cNvPr id="138" name="TextBox 137">
            <a:extLst>
              <a:ext uri="{FF2B5EF4-FFF2-40B4-BE49-F238E27FC236}">
                <a16:creationId xmlns:a16="http://schemas.microsoft.com/office/drawing/2014/main" id="{00141C72-0F08-4BBD-BA35-1A7EDC44D56B}"/>
              </a:ext>
            </a:extLst>
          </p:cNvPr>
          <p:cNvSpPr txBox="1"/>
          <p:nvPr/>
        </p:nvSpPr>
        <p:spPr>
          <a:xfrm>
            <a:off x="7922303" y="804446"/>
            <a:ext cx="424537" cy="215444"/>
          </a:xfrm>
          <a:prstGeom prst="rect">
            <a:avLst/>
          </a:prstGeom>
          <a:solidFill>
            <a:srgbClr val="8064A2">
              <a:lumMod val="60000"/>
              <a:lumOff val="40000"/>
            </a:srgbClr>
          </a:solidFill>
          <a:ln>
            <a:noFill/>
          </a:ln>
          <a:effectLst/>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GB" sz="800" b="1" i="0" u="none" strike="noStrike" kern="1200" cap="none" spc="0" normalizeH="0" baseline="0" noProof="0" dirty="0">
                <a:ln>
                  <a:noFill/>
                </a:ln>
                <a:solidFill>
                  <a:prstClr val="white"/>
                </a:solidFill>
                <a:effectLst/>
                <a:uLnTx/>
                <a:uFillTx/>
                <a:latin typeface="Montserrat" panose="00000500000000000000" pitchFamily="50" charset="0"/>
                <a:ea typeface="+mn-ea"/>
                <a:cs typeface="+mn-cs"/>
              </a:rPr>
              <a:t>2029</a:t>
            </a:r>
          </a:p>
        </p:txBody>
      </p:sp>
      <p:sp>
        <p:nvSpPr>
          <p:cNvPr id="139" name="Chevron 60">
            <a:extLst>
              <a:ext uri="{FF2B5EF4-FFF2-40B4-BE49-F238E27FC236}">
                <a16:creationId xmlns:a16="http://schemas.microsoft.com/office/drawing/2014/main" id="{D78C051B-3B05-416C-8988-E4B17F8083CB}"/>
              </a:ext>
            </a:extLst>
          </p:cNvPr>
          <p:cNvSpPr/>
          <p:nvPr/>
        </p:nvSpPr>
        <p:spPr bwMode="auto">
          <a:xfrm>
            <a:off x="914931" y="1360606"/>
            <a:ext cx="4419069" cy="247095"/>
          </a:xfrm>
          <a:prstGeom prst="chevron">
            <a:avLst/>
          </a:prstGeom>
          <a:gradFill>
            <a:gsLst>
              <a:gs pos="1770">
                <a:schemeClr val="bg1"/>
              </a:gs>
              <a:gs pos="22000">
                <a:schemeClr val="accent5">
                  <a:lumMod val="60000"/>
                  <a:lumOff val="40000"/>
                </a:schemeClr>
              </a:gs>
              <a:gs pos="100000">
                <a:schemeClr val="accent5">
                  <a:lumMod val="75000"/>
                </a:schemeClr>
              </a:gs>
            </a:gsLst>
            <a:lin ang="1800000" scaled="0"/>
          </a:gradFill>
          <a:ln w="9525" cap="flat" cmpd="sng" algn="ctr">
            <a:noFill/>
            <a:prstDash val="solid"/>
            <a:round/>
            <a:headEnd type="none" w="med" len="med"/>
            <a:tailEnd type="none" w="med" len="med"/>
          </a:ln>
          <a:effectLst/>
        </p:spPr>
        <p:txBody>
          <a:bodyPr lIns="0" rIns="0"/>
          <a:lstStyle/>
          <a:p>
            <a:pPr algn="ctr">
              <a:defRPr/>
            </a:pPr>
            <a:r>
              <a:rPr lang="fr-FR" sz="1100" b="1" dirty="0" err="1">
                <a:latin typeface="Agency FB" panose="020B0503020202020204" pitchFamily="34" charset="0"/>
                <a:ea typeface="ＭＳ Ｐゴシック" charset="-128"/>
                <a:cs typeface="Arial" pitchFamily="34" charset="0"/>
              </a:rPr>
              <a:t>Feasibility</a:t>
            </a:r>
            <a:r>
              <a:rPr lang="fr-FR" sz="1100" b="1" dirty="0">
                <a:latin typeface="Agency FB" panose="020B0503020202020204" pitchFamily="34" charset="0"/>
                <a:ea typeface="ＭＳ Ｐゴシック" charset="-128"/>
                <a:cs typeface="Arial" pitchFamily="34" charset="0"/>
              </a:rPr>
              <a:t> </a:t>
            </a:r>
            <a:r>
              <a:rPr lang="fr-FR" sz="1100" b="1" dirty="0" err="1">
                <a:latin typeface="Agency FB" panose="020B0503020202020204" pitchFamily="34" charset="0"/>
                <a:ea typeface="ＭＳ Ｐゴシック" charset="-128"/>
                <a:cs typeface="Arial" pitchFamily="34" charset="0"/>
              </a:rPr>
              <a:t>Study</a:t>
            </a:r>
            <a:r>
              <a:rPr lang="fr-FR" sz="1100" b="1" dirty="0">
                <a:latin typeface="Agency FB" panose="020B0503020202020204" pitchFamily="34" charset="0"/>
                <a:ea typeface="ＭＳ Ｐゴシック" charset="-128"/>
                <a:cs typeface="Arial" pitchFamily="34" charset="0"/>
              </a:rPr>
              <a:t> Phase (Rel-20)</a:t>
            </a:r>
          </a:p>
        </p:txBody>
      </p:sp>
      <p:sp>
        <p:nvSpPr>
          <p:cNvPr id="140" name="Chevron 60">
            <a:extLst>
              <a:ext uri="{FF2B5EF4-FFF2-40B4-BE49-F238E27FC236}">
                <a16:creationId xmlns:a16="http://schemas.microsoft.com/office/drawing/2014/main" id="{4BCE88C4-404F-4D70-B949-31A678E57F2D}"/>
              </a:ext>
            </a:extLst>
          </p:cNvPr>
          <p:cNvSpPr/>
          <p:nvPr/>
        </p:nvSpPr>
        <p:spPr bwMode="auto">
          <a:xfrm>
            <a:off x="5281644" y="1351609"/>
            <a:ext cx="2998758" cy="248800"/>
          </a:xfrm>
          <a:prstGeom prst="chevron">
            <a:avLst/>
          </a:prstGeom>
          <a:gradFill flip="none" rotWithShape="1">
            <a:gsLst>
              <a:gs pos="0">
                <a:schemeClr val="bg1">
                  <a:lumMod val="60000"/>
                  <a:lumOff val="40000"/>
                  <a:tint val="66000"/>
                  <a:satMod val="160000"/>
                </a:schemeClr>
              </a:gs>
              <a:gs pos="50000">
                <a:schemeClr val="bg1">
                  <a:lumMod val="60000"/>
                  <a:lumOff val="40000"/>
                  <a:tint val="44500"/>
                  <a:satMod val="160000"/>
                </a:schemeClr>
              </a:gs>
              <a:gs pos="100000">
                <a:schemeClr val="bg1">
                  <a:lumMod val="60000"/>
                  <a:lumOff val="40000"/>
                  <a:tint val="23500"/>
                  <a:satMod val="160000"/>
                </a:schemeClr>
              </a:gs>
            </a:gsLst>
            <a:lin ang="0" scaled="1"/>
            <a:tileRect/>
          </a:gradFill>
          <a:ln w="9525" cap="flat" cmpd="sng" algn="ctr">
            <a:noFill/>
            <a:prstDash val="solid"/>
            <a:round/>
            <a:headEnd type="none" w="med" len="med"/>
            <a:tailEnd type="none" w="med" len="med"/>
          </a:ln>
          <a:effectLst/>
        </p:spPr>
        <p:txBody>
          <a:bodyPr lIns="0" rIns="0"/>
          <a:lstStyle/>
          <a:p>
            <a:pPr algn="ctr">
              <a:defRPr/>
            </a:pPr>
            <a:r>
              <a:rPr lang="fr-FR" sz="1100" b="1" dirty="0">
                <a:latin typeface="Agency FB" panose="020B0503020202020204" pitchFamily="34" charset="0"/>
                <a:ea typeface="ＭＳ Ｐゴシック" charset="-128"/>
                <a:cs typeface="Arial" pitchFamily="34" charset="0"/>
              </a:rPr>
              <a:t>Normative Phase (Rel-21)</a:t>
            </a:r>
          </a:p>
        </p:txBody>
      </p:sp>
      <p:sp>
        <p:nvSpPr>
          <p:cNvPr id="141" name="Rectangle 140">
            <a:extLst>
              <a:ext uri="{FF2B5EF4-FFF2-40B4-BE49-F238E27FC236}">
                <a16:creationId xmlns:a16="http://schemas.microsoft.com/office/drawing/2014/main" id="{AA753C70-A594-416B-9315-371AFB0DEA88}"/>
              </a:ext>
            </a:extLst>
          </p:cNvPr>
          <p:cNvSpPr/>
          <p:nvPr/>
        </p:nvSpPr>
        <p:spPr>
          <a:xfrm>
            <a:off x="28361" y="4564958"/>
            <a:ext cx="1749197" cy="230832"/>
          </a:xfrm>
          <a:prstGeom prst="rect">
            <a:avLst/>
          </a:prstGeom>
        </p:spPr>
        <p:txBody>
          <a:bodyPr wrap="none">
            <a:spAutoFit/>
          </a:bodyPr>
          <a:lstStyle/>
          <a:p>
            <a:r>
              <a:rPr lang="en-US" sz="900" i="1" dirty="0"/>
              <a:t>*Exact timeline for Rel-21 TBD</a:t>
            </a:r>
          </a:p>
        </p:txBody>
      </p:sp>
      <p:sp>
        <p:nvSpPr>
          <p:cNvPr id="142" name="TextBox 141">
            <a:extLst>
              <a:ext uri="{FF2B5EF4-FFF2-40B4-BE49-F238E27FC236}">
                <a16:creationId xmlns:a16="http://schemas.microsoft.com/office/drawing/2014/main" id="{3ED1BC9C-0897-49D5-968A-9F607CC0ACC4}"/>
              </a:ext>
            </a:extLst>
          </p:cNvPr>
          <p:cNvSpPr txBox="1"/>
          <p:nvPr/>
        </p:nvSpPr>
        <p:spPr>
          <a:xfrm>
            <a:off x="7361072" y="1292632"/>
            <a:ext cx="255198" cy="307777"/>
          </a:xfrm>
          <a:prstGeom prst="rect">
            <a:avLst/>
          </a:prstGeom>
          <a:noFill/>
        </p:spPr>
        <p:txBody>
          <a:bodyPr wrap="none" rtlCol="0">
            <a:spAutoFit/>
          </a:bodyPr>
          <a:lstStyle/>
          <a:p>
            <a:r>
              <a:rPr lang="fr-FR" dirty="0"/>
              <a:t>*</a:t>
            </a:r>
            <a:endParaRPr lang="en-US" dirty="0"/>
          </a:p>
        </p:txBody>
      </p:sp>
      <p:sp>
        <p:nvSpPr>
          <p:cNvPr id="143" name="Arrow: Up 142">
            <a:extLst>
              <a:ext uri="{FF2B5EF4-FFF2-40B4-BE49-F238E27FC236}">
                <a16:creationId xmlns:a16="http://schemas.microsoft.com/office/drawing/2014/main" id="{EBD5240D-C4F1-49AB-9172-0DB480E27FB1}"/>
              </a:ext>
            </a:extLst>
          </p:cNvPr>
          <p:cNvSpPr/>
          <p:nvPr/>
        </p:nvSpPr>
        <p:spPr>
          <a:xfrm>
            <a:off x="2873115" y="1056851"/>
            <a:ext cx="149493" cy="271478"/>
          </a:xfrm>
          <a:prstGeom prst="up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4" name="Straight Connector 143">
            <a:extLst>
              <a:ext uri="{FF2B5EF4-FFF2-40B4-BE49-F238E27FC236}">
                <a16:creationId xmlns:a16="http://schemas.microsoft.com/office/drawing/2014/main" id="{8E4C6FDA-89B2-4BE4-8FF4-BED2399F6658}"/>
              </a:ext>
            </a:extLst>
          </p:cNvPr>
          <p:cNvCxnSpPr>
            <a:cxnSpLocks/>
          </p:cNvCxnSpPr>
          <p:nvPr/>
        </p:nvCxnSpPr>
        <p:spPr>
          <a:xfrm>
            <a:off x="2947704" y="1360606"/>
            <a:ext cx="0" cy="3591102"/>
          </a:xfrm>
          <a:prstGeom prst="line">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58" name="Arrow: Striped Right 157">
            <a:extLst>
              <a:ext uri="{FF2B5EF4-FFF2-40B4-BE49-F238E27FC236}">
                <a16:creationId xmlns:a16="http://schemas.microsoft.com/office/drawing/2014/main" id="{84336FC8-3F05-404E-B367-337D1C65034F}"/>
              </a:ext>
            </a:extLst>
          </p:cNvPr>
          <p:cNvSpPr/>
          <p:nvPr/>
        </p:nvSpPr>
        <p:spPr>
          <a:xfrm>
            <a:off x="8040947" y="2991517"/>
            <a:ext cx="944352" cy="488516"/>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8" name="Picture 57">
            <a:extLst>
              <a:ext uri="{FF2B5EF4-FFF2-40B4-BE49-F238E27FC236}">
                <a16:creationId xmlns:a16="http://schemas.microsoft.com/office/drawing/2014/main" id="{5FCA8985-4E79-4E82-AA69-E095747B3E03}"/>
              </a:ext>
            </a:extLst>
          </p:cNvPr>
          <p:cNvPicPr>
            <a:picLocks noChangeAspect="1"/>
          </p:cNvPicPr>
          <p:nvPr/>
        </p:nvPicPr>
        <p:blipFill>
          <a:blip r:embed="rId3"/>
          <a:stretch>
            <a:fillRect/>
          </a:stretch>
        </p:blipFill>
        <p:spPr>
          <a:xfrm>
            <a:off x="8260080" y="114300"/>
            <a:ext cx="769620" cy="577215"/>
          </a:xfrm>
          <a:prstGeom prst="rect">
            <a:avLst/>
          </a:prstGeom>
        </p:spPr>
      </p:pic>
    </p:spTree>
    <p:extLst>
      <p:ext uri="{BB962C8B-B14F-4D97-AF65-F5344CB8AC3E}">
        <p14:creationId xmlns:p14="http://schemas.microsoft.com/office/powerpoint/2010/main" val="161145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7FC4E-F418-4E50-BA2E-87C323DFD920}"/>
              </a:ext>
            </a:extLst>
          </p:cNvPr>
          <p:cNvSpPr>
            <a:spLocks noGrp="1"/>
          </p:cNvSpPr>
          <p:nvPr>
            <p:ph type="title"/>
          </p:nvPr>
        </p:nvSpPr>
        <p:spPr>
          <a:xfrm>
            <a:off x="158699" y="45928"/>
            <a:ext cx="8826600" cy="602700"/>
          </a:xfrm>
        </p:spPr>
        <p:txBody>
          <a:bodyPr/>
          <a:lstStyle/>
          <a:p>
            <a:r>
              <a:rPr lang="fr-FR" dirty="0" err="1"/>
              <a:t>Status</a:t>
            </a:r>
            <a:endParaRPr lang="en-US" dirty="0"/>
          </a:p>
        </p:txBody>
      </p:sp>
      <p:sp>
        <p:nvSpPr>
          <p:cNvPr id="3" name="Text Placeholder 2">
            <a:extLst>
              <a:ext uri="{FF2B5EF4-FFF2-40B4-BE49-F238E27FC236}">
                <a16:creationId xmlns:a16="http://schemas.microsoft.com/office/drawing/2014/main" id="{28465353-BB72-4D5D-9539-EC3C791FE493}"/>
              </a:ext>
            </a:extLst>
          </p:cNvPr>
          <p:cNvSpPr>
            <a:spLocks noGrp="1"/>
          </p:cNvSpPr>
          <p:nvPr>
            <p:ph type="body" idx="1"/>
          </p:nvPr>
        </p:nvSpPr>
        <p:spPr>
          <a:xfrm>
            <a:off x="460950" y="811812"/>
            <a:ext cx="8222100" cy="3765300"/>
          </a:xfrm>
        </p:spPr>
        <p:txBody>
          <a:bodyPr/>
          <a:lstStyle/>
          <a:p>
            <a:pPr>
              <a:buFont typeface="Wingdings" panose="05000000000000000000" pitchFamily="2" charset="2"/>
              <a:buChar char="q"/>
            </a:pPr>
            <a:r>
              <a:rPr lang="en-US" dirty="0"/>
              <a:t>Ongoing study demonstrates the </a:t>
            </a:r>
            <a:r>
              <a:rPr lang="en-US" dirty="0">
                <a:solidFill>
                  <a:srgbClr val="FF0000"/>
                </a:solidFill>
              </a:rPr>
              <a:t>potential of AI agent communication </a:t>
            </a:r>
            <a:r>
              <a:rPr lang="en-US" dirty="0"/>
              <a:t>in the scope of 6G.</a:t>
            </a:r>
          </a:p>
          <a:p>
            <a:pPr>
              <a:buFont typeface="Wingdings" panose="05000000000000000000" pitchFamily="2" charset="2"/>
              <a:buChar char="q"/>
            </a:pPr>
            <a:r>
              <a:rPr lang="en-US" dirty="0"/>
              <a:t>Study on architecture, functional and protocol related aspects will be studied in the upcoming months</a:t>
            </a:r>
          </a:p>
          <a:p>
            <a:pPr>
              <a:buFont typeface="Wingdings" panose="05000000000000000000" pitchFamily="2" charset="2"/>
              <a:buChar char="q"/>
            </a:pPr>
            <a:r>
              <a:rPr lang="en-US" u="sng" dirty="0">
                <a:solidFill>
                  <a:srgbClr val="FF0000"/>
                </a:solidFill>
              </a:rPr>
              <a:t>If</a:t>
            </a:r>
            <a:r>
              <a:rPr lang="en-US" dirty="0"/>
              <a:t> a multi-AI agent-based system is formally adopted by 3GPP in the scope of 6G, </a:t>
            </a:r>
            <a:r>
              <a:rPr lang="en-US" dirty="0">
                <a:solidFill>
                  <a:srgbClr val="FF0000"/>
                </a:solidFill>
              </a:rPr>
              <a:t>standard solutions will be required </a:t>
            </a:r>
            <a:r>
              <a:rPr lang="en-US" dirty="0"/>
              <a:t>to support secure and reliable communication </a:t>
            </a:r>
            <a:r>
              <a:rPr lang="en-US" dirty="0">
                <a:solidFill>
                  <a:srgbClr val="FF0000"/>
                </a:solidFill>
              </a:rPr>
              <a:t>between agents </a:t>
            </a:r>
            <a:r>
              <a:rPr lang="en-US" dirty="0"/>
              <a:t>and </a:t>
            </a:r>
            <a:r>
              <a:rPr lang="en-US" dirty="0">
                <a:solidFill>
                  <a:srgbClr val="FF0000"/>
                </a:solidFill>
              </a:rPr>
              <a:t>between agents and external tools</a:t>
            </a:r>
            <a:r>
              <a:rPr lang="en-US" dirty="0"/>
              <a:t>. </a:t>
            </a:r>
            <a:endParaRPr lang="fr-FR" dirty="0"/>
          </a:p>
          <a:p>
            <a:pPr>
              <a:buFont typeface="Wingdings" panose="05000000000000000000" pitchFamily="2" charset="2"/>
              <a:buChar char="q"/>
            </a:pPr>
            <a:r>
              <a:rPr lang="en-US" dirty="0"/>
              <a:t>Standard solutions for </a:t>
            </a:r>
            <a:r>
              <a:rPr lang="en-US" dirty="0">
                <a:solidFill>
                  <a:srgbClr val="FF0000"/>
                </a:solidFill>
              </a:rPr>
              <a:t>intra-network </a:t>
            </a:r>
            <a:r>
              <a:rPr lang="en-US" dirty="0"/>
              <a:t>but also for </a:t>
            </a:r>
            <a:r>
              <a:rPr lang="en-US" dirty="0">
                <a:solidFill>
                  <a:srgbClr val="FF0000"/>
                </a:solidFill>
              </a:rPr>
              <a:t>inter-network</a:t>
            </a:r>
            <a:r>
              <a:rPr lang="en-US" dirty="0"/>
              <a:t> and interaction </a:t>
            </a:r>
            <a:r>
              <a:rPr lang="en-US" dirty="0">
                <a:solidFill>
                  <a:srgbClr val="FF0000"/>
                </a:solidFill>
              </a:rPr>
              <a:t>with 3rd-party platforms</a:t>
            </a:r>
            <a:r>
              <a:rPr lang="en-US" dirty="0"/>
              <a:t>. </a:t>
            </a:r>
          </a:p>
          <a:p>
            <a:pPr>
              <a:buFont typeface="Wingdings" panose="05000000000000000000" pitchFamily="2" charset="2"/>
              <a:buChar char="q"/>
            </a:pPr>
            <a:r>
              <a:rPr lang="en-US" dirty="0">
                <a:solidFill>
                  <a:srgbClr val="FF0000"/>
                </a:solidFill>
              </a:rPr>
              <a:t>Close coordination </a:t>
            </a:r>
            <a:r>
              <a:rPr lang="en-US" dirty="0"/>
              <a:t>between IETF and 3GPP is expected</a:t>
            </a:r>
          </a:p>
        </p:txBody>
      </p:sp>
      <p:sp>
        <p:nvSpPr>
          <p:cNvPr id="4" name="Slide Number Placeholder 3">
            <a:extLst>
              <a:ext uri="{FF2B5EF4-FFF2-40B4-BE49-F238E27FC236}">
                <a16:creationId xmlns:a16="http://schemas.microsoft.com/office/drawing/2014/main" id="{6CD96509-D6A1-43CB-917D-0232AD2586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pic>
        <p:nvPicPr>
          <p:cNvPr id="5" name="Picture 4">
            <a:extLst>
              <a:ext uri="{FF2B5EF4-FFF2-40B4-BE49-F238E27FC236}">
                <a16:creationId xmlns:a16="http://schemas.microsoft.com/office/drawing/2014/main" id="{770EAAD2-0587-41C5-AFF6-A5C6043DB7CA}"/>
              </a:ext>
            </a:extLst>
          </p:cNvPr>
          <p:cNvPicPr>
            <a:picLocks noChangeAspect="1"/>
          </p:cNvPicPr>
          <p:nvPr/>
        </p:nvPicPr>
        <p:blipFill>
          <a:blip r:embed="rId2"/>
          <a:stretch>
            <a:fillRect/>
          </a:stretch>
        </p:blipFill>
        <p:spPr>
          <a:xfrm>
            <a:off x="8260080" y="114300"/>
            <a:ext cx="769620" cy="577215"/>
          </a:xfrm>
          <a:prstGeom prst="rect">
            <a:avLst/>
          </a:prstGeom>
        </p:spPr>
      </p:pic>
    </p:spTree>
    <p:extLst>
      <p:ext uri="{BB962C8B-B14F-4D97-AF65-F5344CB8AC3E}">
        <p14:creationId xmlns:p14="http://schemas.microsoft.com/office/powerpoint/2010/main" val="584822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AFAD-A59B-4C0D-8B44-5BC47DFD04EB}"/>
              </a:ext>
            </a:extLst>
          </p:cNvPr>
          <p:cNvSpPr>
            <a:spLocks noGrp="1"/>
          </p:cNvSpPr>
          <p:nvPr>
            <p:ph type="title"/>
          </p:nvPr>
        </p:nvSpPr>
        <p:spPr/>
        <p:txBody>
          <a:bodyPr/>
          <a:lstStyle/>
          <a:p>
            <a:r>
              <a:rPr lang="fr-FR" dirty="0"/>
              <a:t>Agenda</a:t>
            </a:r>
            <a:endParaRPr lang="en-US" dirty="0"/>
          </a:p>
        </p:txBody>
      </p:sp>
      <p:sp>
        <p:nvSpPr>
          <p:cNvPr id="3" name="Text Placeholder 2">
            <a:extLst>
              <a:ext uri="{FF2B5EF4-FFF2-40B4-BE49-F238E27FC236}">
                <a16:creationId xmlns:a16="http://schemas.microsoft.com/office/drawing/2014/main" id="{5987450D-7FF5-41D9-8287-B7D52FBE5943}"/>
              </a:ext>
            </a:extLst>
          </p:cNvPr>
          <p:cNvSpPr>
            <a:spLocks noGrp="1"/>
          </p:cNvSpPr>
          <p:nvPr>
            <p:ph type="body" idx="1"/>
          </p:nvPr>
        </p:nvSpPr>
        <p:spPr/>
        <p:txBody>
          <a:bodyPr/>
          <a:lstStyle/>
          <a:p>
            <a:pPr marL="114300" indent="0">
              <a:buNone/>
            </a:pPr>
            <a:r>
              <a:rPr lang="en-US" dirty="0"/>
              <a:t>10min: Agenda and Introduction (Lionel)</a:t>
            </a:r>
          </a:p>
          <a:p>
            <a:pPr marL="114300" indent="0">
              <a:buNone/>
            </a:pPr>
            <a:r>
              <a:rPr lang="en-US" b="1" dirty="0">
                <a:solidFill>
                  <a:srgbClr val="FF0000"/>
                </a:solidFill>
              </a:rPr>
              <a:t>60min: Presentations</a:t>
            </a:r>
          </a:p>
          <a:p>
            <a:pPr marL="571500" lvl="1" indent="0">
              <a:buNone/>
            </a:pPr>
            <a:r>
              <a:rPr lang="en-US" sz="1600" dirty="0"/>
              <a:t>15mn: AI Agents Communication Use Cases and Requirements (China Telecom)</a:t>
            </a:r>
          </a:p>
          <a:p>
            <a:pPr marL="571500" lvl="1" indent="0">
              <a:buNone/>
            </a:pPr>
            <a:r>
              <a:rPr lang="en-US" sz="1600" dirty="0"/>
              <a:t>10mn: Telecom AI Agent Use cases and Requirements (China Mobile)</a:t>
            </a:r>
            <a:r>
              <a:rPr lang="fr-FR" sz="1600" dirty="0"/>
              <a:t> </a:t>
            </a:r>
          </a:p>
          <a:p>
            <a:pPr marL="571500" lvl="1" indent="0">
              <a:buNone/>
            </a:pPr>
            <a:r>
              <a:rPr lang="en-US" sz="1600" dirty="0"/>
              <a:t>10mn: Multi-Access Collaboration Requirements for AI Agent Protocol (China Unicom)</a:t>
            </a:r>
          </a:p>
          <a:p>
            <a:pPr marL="571500" lvl="1" indent="0">
              <a:buNone/>
            </a:pPr>
            <a:r>
              <a:rPr lang="fr-FR" sz="1600" dirty="0"/>
              <a:t>25mn: AI agent networks </a:t>
            </a:r>
            <a:r>
              <a:rPr lang="fr-FR" sz="1600" dirty="0" err="1"/>
              <a:t>framework</a:t>
            </a:r>
            <a:r>
              <a:rPr lang="fr-FR" sz="1600" dirty="0"/>
              <a:t> (ANP)</a:t>
            </a:r>
          </a:p>
          <a:p>
            <a:pPr marL="114300" indent="0">
              <a:buNone/>
            </a:pPr>
            <a:r>
              <a:rPr lang="en-US" dirty="0"/>
              <a:t>40min: Additional items for the proposed charter? </a:t>
            </a:r>
          </a:p>
          <a:p>
            <a:pPr marL="114300" indent="0">
              <a:buNone/>
            </a:pPr>
            <a:r>
              <a:rPr lang="en-US" dirty="0"/>
              <a:t>10min: Conclusions and Next Steps</a:t>
            </a:r>
          </a:p>
        </p:txBody>
      </p:sp>
      <p:sp>
        <p:nvSpPr>
          <p:cNvPr id="4" name="Slide Number Placeholder 3">
            <a:extLst>
              <a:ext uri="{FF2B5EF4-FFF2-40B4-BE49-F238E27FC236}">
                <a16:creationId xmlns:a16="http://schemas.microsoft.com/office/drawing/2014/main" id="{7DDBDB5F-36F5-496B-BDD7-B45C55AF44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5" name="Picture 4">
            <a:extLst>
              <a:ext uri="{FF2B5EF4-FFF2-40B4-BE49-F238E27FC236}">
                <a16:creationId xmlns:a16="http://schemas.microsoft.com/office/drawing/2014/main" id="{18358B0B-1C49-4E1A-ACC0-9A2C6076E979}"/>
              </a:ext>
            </a:extLst>
          </p:cNvPr>
          <p:cNvPicPr>
            <a:picLocks noChangeAspect="1"/>
          </p:cNvPicPr>
          <p:nvPr/>
        </p:nvPicPr>
        <p:blipFill>
          <a:blip r:embed="rId2"/>
          <a:stretch>
            <a:fillRect/>
          </a:stretch>
        </p:blipFill>
        <p:spPr>
          <a:xfrm>
            <a:off x="8260080" y="114300"/>
            <a:ext cx="769620" cy="577215"/>
          </a:xfrm>
          <a:prstGeom prst="rect">
            <a:avLst/>
          </a:prstGeom>
        </p:spPr>
      </p:pic>
    </p:spTree>
    <p:extLst>
      <p:ext uri="{BB962C8B-B14F-4D97-AF65-F5344CB8AC3E}">
        <p14:creationId xmlns:p14="http://schemas.microsoft.com/office/powerpoint/2010/main" val="767539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46653-A2AE-4DD7-8886-D44DCD075DE7}"/>
              </a:ext>
            </a:extLst>
          </p:cNvPr>
          <p:cNvSpPr>
            <a:spLocks noGrp="1"/>
          </p:cNvSpPr>
          <p:nvPr>
            <p:ph type="title"/>
          </p:nvPr>
        </p:nvSpPr>
        <p:spPr/>
        <p:txBody>
          <a:bodyPr/>
          <a:lstStyle/>
          <a:p>
            <a:r>
              <a:rPr lang="en-US" dirty="0"/>
              <a:t>AI Agents Communication Use Cases and Requirements</a:t>
            </a:r>
          </a:p>
        </p:txBody>
      </p:sp>
      <p:sp>
        <p:nvSpPr>
          <p:cNvPr id="4" name="Slide Number Placeholder 3">
            <a:extLst>
              <a:ext uri="{FF2B5EF4-FFF2-40B4-BE49-F238E27FC236}">
                <a16:creationId xmlns:a16="http://schemas.microsoft.com/office/drawing/2014/main" id="{31287B1C-4538-43A0-8E33-3AAC267C05D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7" name="Picture 6">
            <a:extLst>
              <a:ext uri="{FF2B5EF4-FFF2-40B4-BE49-F238E27FC236}">
                <a16:creationId xmlns:a16="http://schemas.microsoft.com/office/drawing/2014/main" id="{26F2A6E4-A5B8-4564-8B42-09ABF8442C0F}"/>
              </a:ext>
            </a:extLst>
          </p:cNvPr>
          <p:cNvPicPr>
            <a:picLocks noChangeAspect="1"/>
          </p:cNvPicPr>
          <p:nvPr/>
        </p:nvPicPr>
        <p:blipFill>
          <a:blip r:embed="rId2"/>
          <a:stretch>
            <a:fillRect/>
          </a:stretch>
        </p:blipFill>
        <p:spPr>
          <a:xfrm>
            <a:off x="928645" y="1044200"/>
            <a:ext cx="6883754" cy="3848298"/>
          </a:xfrm>
          <a:prstGeom prst="rect">
            <a:avLst/>
          </a:prstGeom>
        </p:spPr>
      </p:pic>
      <p:pic>
        <p:nvPicPr>
          <p:cNvPr id="5" name="Picture 4">
            <a:extLst>
              <a:ext uri="{FF2B5EF4-FFF2-40B4-BE49-F238E27FC236}">
                <a16:creationId xmlns:a16="http://schemas.microsoft.com/office/drawing/2014/main" id="{770ACED0-F39C-469D-9370-FA2E68144620}"/>
              </a:ext>
            </a:extLst>
          </p:cNvPr>
          <p:cNvPicPr>
            <a:picLocks noChangeAspect="1"/>
          </p:cNvPicPr>
          <p:nvPr/>
        </p:nvPicPr>
        <p:blipFill>
          <a:blip r:embed="rId3"/>
          <a:stretch>
            <a:fillRect/>
          </a:stretch>
        </p:blipFill>
        <p:spPr>
          <a:xfrm>
            <a:off x="8260080" y="114300"/>
            <a:ext cx="769620" cy="577215"/>
          </a:xfrm>
          <a:prstGeom prst="rect">
            <a:avLst/>
          </a:prstGeom>
        </p:spPr>
      </p:pic>
    </p:spTree>
    <p:extLst>
      <p:ext uri="{BB962C8B-B14F-4D97-AF65-F5344CB8AC3E}">
        <p14:creationId xmlns:p14="http://schemas.microsoft.com/office/powerpoint/2010/main" val="363699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0A711-02C8-4FE3-AFC5-613410A28DE3}"/>
              </a:ext>
            </a:extLst>
          </p:cNvPr>
          <p:cNvSpPr>
            <a:spLocks noGrp="1"/>
          </p:cNvSpPr>
          <p:nvPr>
            <p:ph type="title"/>
          </p:nvPr>
        </p:nvSpPr>
        <p:spPr/>
        <p:txBody>
          <a:bodyPr/>
          <a:lstStyle/>
          <a:p>
            <a:r>
              <a:rPr lang="en-US" altLang="zh-CN" dirty="0"/>
              <a:t>Telecom AI Agent Use cases and Requirements</a:t>
            </a:r>
            <a:endParaRPr lang="en-US" dirty="0"/>
          </a:p>
        </p:txBody>
      </p:sp>
      <p:sp>
        <p:nvSpPr>
          <p:cNvPr id="4" name="Slide Number Placeholder 3">
            <a:extLst>
              <a:ext uri="{FF2B5EF4-FFF2-40B4-BE49-F238E27FC236}">
                <a16:creationId xmlns:a16="http://schemas.microsoft.com/office/drawing/2014/main" id="{9061ACF9-14D3-4788-925D-FDDA7D3326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5" name="Picture 4">
            <a:extLst>
              <a:ext uri="{FF2B5EF4-FFF2-40B4-BE49-F238E27FC236}">
                <a16:creationId xmlns:a16="http://schemas.microsoft.com/office/drawing/2014/main" id="{78DF7B4C-6943-46F9-8F37-2B880FF0268A}"/>
              </a:ext>
            </a:extLst>
          </p:cNvPr>
          <p:cNvPicPr>
            <a:picLocks noChangeAspect="1"/>
          </p:cNvPicPr>
          <p:nvPr/>
        </p:nvPicPr>
        <p:blipFill>
          <a:blip r:embed="rId2"/>
          <a:stretch>
            <a:fillRect/>
          </a:stretch>
        </p:blipFill>
        <p:spPr>
          <a:xfrm>
            <a:off x="821410" y="915217"/>
            <a:ext cx="6990590" cy="3974401"/>
          </a:xfrm>
          <a:prstGeom prst="rect">
            <a:avLst/>
          </a:prstGeom>
        </p:spPr>
      </p:pic>
      <p:pic>
        <p:nvPicPr>
          <p:cNvPr id="6" name="Picture 5">
            <a:extLst>
              <a:ext uri="{FF2B5EF4-FFF2-40B4-BE49-F238E27FC236}">
                <a16:creationId xmlns:a16="http://schemas.microsoft.com/office/drawing/2014/main" id="{C08A50BB-C39E-4D3E-A647-19ACBACE93AC}"/>
              </a:ext>
            </a:extLst>
          </p:cNvPr>
          <p:cNvPicPr>
            <a:picLocks noChangeAspect="1"/>
          </p:cNvPicPr>
          <p:nvPr/>
        </p:nvPicPr>
        <p:blipFill>
          <a:blip r:embed="rId3"/>
          <a:stretch>
            <a:fillRect/>
          </a:stretch>
        </p:blipFill>
        <p:spPr>
          <a:xfrm>
            <a:off x="8260080" y="114300"/>
            <a:ext cx="769620" cy="577215"/>
          </a:xfrm>
          <a:prstGeom prst="rect">
            <a:avLst/>
          </a:prstGeom>
        </p:spPr>
      </p:pic>
    </p:spTree>
    <p:extLst>
      <p:ext uri="{BB962C8B-B14F-4D97-AF65-F5344CB8AC3E}">
        <p14:creationId xmlns:p14="http://schemas.microsoft.com/office/powerpoint/2010/main" val="11530757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C0108-7C30-47D1-897A-F66A95BDEF49}"/>
              </a:ext>
            </a:extLst>
          </p:cNvPr>
          <p:cNvSpPr>
            <a:spLocks noGrp="1"/>
          </p:cNvSpPr>
          <p:nvPr>
            <p:ph type="title"/>
          </p:nvPr>
        </p:nvSpPr>
        <p:spPr/>
        <p:txBody>
          <a:bodyPr/>
          <a:lstStyle/>
          <a:p>
            <a:r>
              <a:rPr lang="en-US" dirty="0"/>
              <a:t>Multi-Access Collaboration</a:t>
            </a:r>
          </a:p>
        </p:txBody>
      </p:sp>
      <p:sp>
        <p:nvSpPr>
          <p:cNvPr id="4" name="Slide Number Placeholder 3">
            <a:extLst>
              <a:ext uri="{FF2B5EF4-FFF2-40B4-BE49-F238E27FC236}">
                <a16:creationId xmlns:a16="http://schemas.microsoft.com/office/drawing/2014/main" id="{D01F6EDB-494A-4276-9C8D-3185C4C9436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7" name="Picture 6">
            <a:extLst>
              <a:ext uri="{FF2B5EF4-FFF2-40B4-BE49-F238E27FC236}">
                <a16:creationId xmlns:a16="http://schemas.microsoft.com/office/drawing/2014/main" id="{AC028C2B-AE8E-43B0-AC01-F2EC4E9D0619}"/>
              </a:ext>
            </a:extLst>
          </p:cNvPr>
          <p:cNvPicPr>
            <a:picLocks noChangeAspect="1"/>
          </p:cNvPicPr>
          <p:nvPr/>
        </p:nvPicPr>
        <p:blipFill>
          <a:blip r:embed="rId2"/>
          <a:stretch>
            <a:fillRect/>
          </a:stretch>
        </p:blipFill>
        <p:spPr>
          <a:xfrm>
            <a:off x="1948241" y="917598"/>
            <a:ext cx="5247517" cy="3974900"/>
          </a:xfrm>
          <a:prstGeom prst="rect">
            <a:avLst/>
          </a:prstGeom>
        </p:spPr>
      </p:pic>
      <p:pic>
        <p:nvPicPr>
          <p:cNvPr id="5" name="Picture 4">
            <a:extLst>
              <a:ext uri="{FF2B5EF4-FFF2-40B4-BE49-F238E27FC236}">
                <a16:creationId xmlns:a16="http://schemas.microsoft.com/office/drawing/2014/main" id="{8DEDC7AD-0FCF-4BD2-8C59-B10AC83F4C76}"/>
              </a:ext>
            </a:extLst>
          </p:cNvPr>
          <p:cNvPicPr>
            <a:picLocks noChangeAspect="1"/>
          </p:cNvPicPr>
          <p:nvPr/>
        </p:nvPicPr>
        <p:blipFill>
          <a:blip r:embed="rId3"/>
          <a:stretch>
            <a:fillRect/>
          </a:stretch>
        </p:blipFill>
        <p:spPr>
          <a:xfrm>
            <a:off x="8260080" y="114300"/>
            <a:ext cx="769620" cy="577215"/>
          </a:xfrm>
          <a:prstGeom prst="rect">
            <a:avLst/>
          </a:prstGeom>
        </p:spPr>
      </p:pic>
    </p:spTree>
    <p:extLst>
      <p:ext uri="{BB962C8B-B14F-4D97-AF65-F5344CB8AC3E}">
        <p14:creationId xmlns:p14="http://schemas.microsoft.com/office/powerpoint/2010/main" val="12798999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AFAD-A59B-4C0D-8B44-5BC47DFD04EB}"/>
              </a:ext>
            </a:extLst>
          </p:cNvPr>
          <p:cNvSpPr>
            <a:spLocks noGrp="1"/>
          </p:cNvSpPr>
          <p:nvPr>
            <p:ph type="title"/>
          </p:nvPr>
        </p:nvSpPr>
        <p:spPr/>
        <p:txBody>
          <a:bodyPr/>
          <a:lstStyle/>
          <a:p>
            <a:r>
              <a:rPr lang="fr-FR" dirty="0"/>
              <a:t>Agenda</a:t>
            </a:r>
            <a:endParaRPr lang="en-US" dirty="0"/>
          </a:p>
        </p:txBody>
      </p:sp>
      <p:sp>
        <p:nvSpPr>
          <p:cNvPr id="3" name="Text Placeholder 2">
            <a:extLst>
              <a:ext uri="{FF2B5EF4-FFF2-40B4-BE49-F238E27FC236}">
                <a16:creationId xmlns:a16="http://schemas.microsoft.com/office/drawing/2014/main" id="{5987450D-7FF5-41D9-8287-B7D52FBE5943}"/>
              </a:ext>
            </a:extLst>
          </p:cNvPr>
          <p:cNvSpPr>
            <a:spLocks noGrp="1"/>
          </p:cNvSpPr>
          <p:nvPr>
            <p:ph type="body" idx="1"/>
          </p:nvPr>
        </p:nvSpPr>
        <p:spPr/>
        <p:txBody>
          <a:bodyPr/>
          <a:lstStyle/>
          <a:p>
            <a:pPr marL="114300" indent="0">
              <a:buNone/>
            </a:pPr>
            <a:r>
              <a:rPr lang="en-US" dirty="0"/>
              <a:t>10min: Agenda and Introduction (Lionel)</a:t>
            </a:r>
          </a:p>
          <a:p>
            <a:pPr marL="114300" indent="0">
              <a:buNone/>
            </a:pPr>
            <a:r>
              <a:rPr lang="en-US" dirty="0">
                <a:solidFill>
                  <a:schemeClr val="tx1"/>
                </a:solidFill>
              </a:rPr>
              <a:t>60min: Presentations</a:t>
            </a:r>
          </a:p>
          <a:p>
            <a:pPr marL="571500" lvl="1" indent="0">
              <a:buNone/>
            </a:pPr>
            <a:r>
              <a:rPr lang="fr-FR" sz="1600" dirty="0"/>
              <a:t>25mn: AI agent networks </a:t>
            </a:r>
            <a:r>
              <a:rPr lang="fr-FR" sz="1600" dirty="0" err="1"/>
              <a:t>framework</a:t>
            </a:r>
            <a:r>
              <a:rPr lang="fr-FR" sz="1600" dirty="0"/>
              <a:t> (ANP)</a:t>
            </a:r>
          </a:p>
          <a:p>
            <a:pPr marL="571500" lvl="1" indent="0">
              <a:buNone/>
            </a:pPr>
            <a:r>
              <a:rPr lang="en-US" sz="1600" dirty="0"/>
              <a:t>10mn: Multi-Access Collaboration Requirements for AI Agent Protocol (China Unicom)</a:t>
            </a:r>
          </a:p>
          <a:p>
            <a:pPr marL="571500" lvl="1" indent="0">
              <a:buNone/>
            </a:pPr>
            <a:r>
              <a:rPr lang="en-US" sz="1600" dirty="0"/>
              <a:t>15mn: AI Agents Communication Use Cases and Requirements (China Telecom)</a:t>
            </a:r>
          </a:p>
          <a:p>
            <a:pPr marL="571500" lvl="1" indent="0">
              <a:buNone/>
            </a:pPr>
            <a:r>
              <a:rPr lang="en-US" sz="1600" dirty="0"/>
              <a:t>10mn: Telecom AI Agent Use cases and Requirements (China Mobile)</a:t>
            </a:r>
          </a:p>
          <a:p>
            <a:pPr marL="114300" indent="0">
              <a:buNone/>
            </a:pPr>
            <a:r>
              <a:rPr lang="en-US" b="1" dirty="0">
                <a:solidFill>
                  <a:srgbClr val="FF0000"/>
                </a:solidFill>
              </a:rPr>
              <a:t>40min: Additional items for the proposed charter?</a:t>
            </a:r>
            <a:r>
              <a:rPr lang="en-US" dirty="0"/>
              <a:t> </a:t>
            </a:r>
          </a:p>
          <a:p>
            <a:pPr marL="114300" indent="0">
              <a:buNone/>
            </a:pPr>
            <a:r>
              <a:rPr lang="en-US" dirty="0"/>
              <a:t>10min: Conclusions and Next Steps</a:t>
            </a:r>
          </a:p>
        </p:txBody>
      </p:sp>
      <p:sp>
        <p:nvSpPr>
          <p:cNvPr id="4" name="Slide Number Placeholder 3">
            <a:extLst>
              <a:ext uri="{FF2B5EF4-FFF2-40B4-BE49-F238E27FC236}">
                <a16:creationId xmlns:a16="http://schemas.microsoft.com/office/drawing/2014/main" id="{7DDBDB5F-36F5-496B-BDD7-B45C55AF44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5" name="Picture 4">
            <a:extLst>
              <a:ext uri="{FF2B5EF4-FFF2-40B4-BE49-F238E27FC236}">
                <a16:creationId xmlns:a16="http://schemas.microsoft.com/office/drawing/2014/main" id="{18358B0B-1C49-4E1A-ACC0-9A2C6076E979}"/>
              </a:ext>
            </a:extLst>
          </p:cNvPr>
          <p:cNvPicPr>
            <a:picLocks noChangeAspect="1"/>
          </p:cNvPicPr>
          <p:nvPr/>
        </p:nvPicPr>
        <p:blipFill>
          <a:blip r:embed="rId2"/>
          <a:stretch>
            <a:fillRect/>
          </a:stretch>
        </p:blipFill>
        <p:spPr>
          <a:xfrm>
            <a:off x="8260080" y="114300"/>
            <a:ext cx="769620" cy="577215"/>
          </a:xfrm>
          <a:prstGeom prst="rect">
            <a:avLst/>
          </a:prstGeom>
        </p:spPr>
      </p:pic>
    </p:spTree>
    <p:extLst>
      <p:ext uri="{BB962C8B-B14F-4D97-AF65-F5344CB8AC3E}">
        <p14:creationId xmlns:p14="http://schemas.microsoft.com/office/powerpoint/2010/main" val="4146141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3F25F-75D1-4041-96BE-679D48C2236B}"/>
              </a:ext>
            </a:extLst>
          </p:cNvPr>
          <p:cNvSpPr>
            <a:spLocks noGrp="1"/>
          </p:cNvSpPr>
          <p:nvPr>
            <p:ph type="title"/>
          </p:nvPr>
        </p:nvSpPr>
        <p:spPr/>
        <p:txBody>
          <a:bodyPr/>
          <a:lstStyle/>
          <a:p>
            <a:r>
              <a:rPr lang="fr-FR" dirty="0" err="1"/>
              <a:t>Current</a:t>
            </a:r>
            <a:r>
              <a:rPr lang="fr-FR" dirty="0"/>
              <a:t> items </a:t>
            </a:r>
            <a:r>
              <a:rPr lang="fr-FR" dirty="0" err="1"/>
              <a:t>identified</a:t>
            </a:r>
            <a:r>
              <a:rPr lang="fr-FR" dirty="0"/>
              <a:t> in the </a:t>
            </a:r>
            <a:r>
              <a:rPr lang="fr-FR" dirty="0" err="1"/>
              <a:t>proposed</a:t>
            </a:r>
            <a:r>
              <a:rPr lang="fr-FR" dirty="0"/>
              <a:t> charter 1/2</a:t>
            </a:r>
            <a:endParaRPr lang="en-US" dirty="0"/>
          </a:p>
        </p:txBody>
      </p:sp>
      <p:sp>
        <p:nvSpPr>
          <p:cNvPr id="3" name="Text Placeholder 2">
            <a:extLst>
              <a:ext uri="{FF2B5EF4-FFF2-40B4-BE49-F238E27FC236}">
                <a16:creationId xmlns:a16="http://schemas.microsoft.com/office/drawing/2014/main" id="{0850B986-DAE3-4311-AFB9-1265A1E2872A}"/>
              </a:ext>
            </a:extLst>
          </p:cNvPr>
          <p:cNvSpPr>
            <a:spLocks noGrp="1"/>
          </p:cNvSpPr>
          <p:nvPr>
            <p:ph type="body" idx="1"/>
          </p:nvPr>
        </p:nvSpPr>
        <p:spPr/>
        <p:txBody>
          <a:bodyPr/>
          <a:lstStyle/>
          <a:p>
            <a:pPr marL="114300" indent="0">
              <a:buNone/>
            </a:pPr>
            <a:r>
              <a:rPr lang="en-US" sz="1400" dirty="0"/>
              <a:t>(1) A standards track AI Agent session protocol for creation and maintenance of long-lived sessions between AI agents, or between AI agents and tools that have long-lived operation. These sessions allow for the bidirectional exchange of data, </a:t>
            </a:r>
            <a:r>
              <a:rPr lang="en-US" sz="1400" dirty="0" err="1"/>
              <a:t>incuding</a:t>
            </a:r>
            <a:r>
              <a:rPr lang="en-US" sz="1400" dirty="0"/>
              <a:t> model context, tool call results, and chat messages. The protocol will facilitate highly scalable and reliable session management, able to survive network and server failures while gracefully recovering. It is capable of exchanging real-time data (such as voice), semi-real-time data like chat, and non-real-time data like tool call inputs and outputs, all concurrently during the session.</a:t>
            </a:r>
          </a:p>
          <a:p>
            <a:pPr>
              <a:buAutoNum type="arabicParenBoth"/>
            </a:pPr>
            <a:endParaRPr lang="fr-FR" sz="1400" dirty="0"/>
          </a:p>
          <a:p>
            <a:pPr marL="114300" indent="0">
              <a:buNone/>
            </a:pPr>
            <a:r>
              <a:rPr lang="en-US" sz="1400" dirty="0"/>
              <a:t>This protocol is a foundational layer on top of which additional protocols can be built. It is anticipated that the AI Agent session protocol will make use of modern IETF application transfer protocols, such as </a:t>
            </a:r>
            <a:r>
              <a:rPr lang="en-US" sz="1400" dirty="0" err="1"/>
              <a:t>webtransport</a:t>
            </a:r>
            <a:r>
              <a:rPr lang="en-US" sz="1400" dirty="0"/>
              <a:t> or MOQ, based on the anticipated use cases. The protocol must also be usable by non-IETF protocols, like the Model Context Protocol (MCP) or Agent-to-Agent (A2A) protocol, with the appropriate layering enabling its usage by any application</a:t>
            </a:r>
          </a:p>
        </p:txBody>
      </p:sp>
      <p:sp>
        <p:nvSpPr>
          <p:cNvPr id="4" name="Slide Number Placeholder 3">
            <a:extLst>
              <a:ext uri="{FF2B5EF4-FFF2-40B4-BE49-F238E27FC236}">
                <a16:creationId xmlns:a16="http://schemas.microsoft.com/office/drawing/2014/main" id="{33E2854F-6070-45EC-8232-437DC435F7C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5" name="Picture 4">
            <a:extLst>
              <a:ext uri="{FF2B5EF4-FFF2-40B4-BE49-F238E27FC236}">
                <a16:creationId xmlns:a16="http://schemas.microsoft.com/office/drawing/2014/main" id="{9BB5C5E5-89B2-4017-96C7-368214FFA0F6}"/>
              </a:ext>
            </a:extLst>
          </p:cNvPr>
          <p:cNvPicPr>
            <a:picLocks noChangeAspect="1"/>
          </p:cNvPicPr>
          <p:nvPr/>
        </p:nvPicPr>
        <p:blipFill>
          <a:blip r:embed="rId2"/>
          <a:stretch>
            <a:fillRect/>
          </a:stretch>
        </p:blipFill>
        <p:spPr>
          <a:xfrm>
            <a:off x="8260080" y="114300"/>
            <a:ext cx="769620" cy="577215"/>
          </a:xfrm>
          <a:prstGeom prst="rect">
            <a:avLst/>
          </a:prstGeom>
        </p:spPr>
      </p:pic>
    </p:spTree>
    <p:extLst>
      <p:ext uri="{BB962C8B-B14F-4D97-AF65-F5344CB8AC3E}">
        <p14:creationId xmlns:p14="http://schemas.microsoft.com/office/powerpoint/2010/main" val="924275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BCE33-C20C-41EC-9047-FEC3B66DED83}"/>
              </a:ext>
            </a:extLst>
          </p:cNvPr>
          <p:cNvSpPr>
            <a:spLocks noGrp="1"/>
          </p:cNvSpPr>
          <p:nvPr>
            <p:ph type="title"/>
          </p:nvPr>
        </p:nvSpPr>
        <p:spPr/>
        <p:txBody>
          <a:bodyPr/>
          <a:lstStyle/>
          <a:p>
            <a:r>
              <a:rPr lang="fr-FR" dirty="0" err="1"/>
              <a:t>Current</a:t>
            </a:r>
            <a:r>
              <a:rPr lang="fr-FR" dirty="0"/>
              <a:t> items </a:t>
            </a:r>
            <a:r>
              <a:rPr lang="fr-FR" dirty="0" err="1"/>
              <a:t>identified</a:t>
            </a:r>
            <a:r>
              <a:rPr lang="fr-FR" dirty="0"/>
              <a:t> in the </a:t>
            </a:r>
            <a:r>
              <a:rPr lang="fr-FR" dirty="0" err="1"/>
              <a:t>proposed</a:t>
            </a:r>
            <a:r>
              <a:rPr lang="fr-FR" dirty="0"/>
              <a:t> charter 2/2</a:t>
            </a:r>
            <a:endParaRPr lang="en-US" dirty="0"/>
          </a:p>
        </p:txBody>
      </p:sp>
      <p:sp>
        <p:nvSpPr>
          <p:cNvPr id="3" name="Text Placeholder 2">
            <a:extLst>
              <a:ext uri="{FF2B5EF4-FFF2-40B4-BE49-F238E27FC236}">
                <a16:creationId xmlns:a16="http://schemas.microsoft.com/office/drawing/2014/main" id="{CFECA39C-460F-4C37-B65F-210158E2EDE4}"/>
              </a:ext>
            </a:extLst>
          </p:cNvPr>
          <p:cNvSpPr>
            <a:spLocks noGrp="1"/>
          </p:cNvSpPr>
          <p:nvPr>
            <p:ph type="body" idx="1"/>
          </p:nvPr>
        </p:nvSpPr>
        <p:spPr/>
        <p:txBody>
          <a:bodyPr/>
          <a:lstStyle/>
          <a:p>
            <a:pPr marL="114300" indent="0">
              <a:buNone/>
            </a:pPr>
            <a:r>
              <a:rPr lang="en-US" dirty="0"/>
              <a:t>(2) An Agent-to-Agent protocol that allows one AI Agent to invoke the services of another AI Agent. This protocol will allow for the exchange of user messages from the end user, including voice, video, images and chat. It will provide basic lifecycle management, enabling the establishment, update, and termination of the services of the downstream agent. This A2A protocol will make use of the AI Agent session protocol, and be the first application specified on top of it. It is anticipated that this protocol would be a next-gen version of the A2A protocol currently under the auspices of the Linux Foundation, building upon that foundation. </a:t>
            </a:r>
          </a:p>
        </p:txBody>
      </p:sp>
      <p:sp>
        <p:nvSpPr>
          <p:cNvPr id="4" name="Slide Number Placeholder 3">
            <a:extLst>
              <a:ext uri="{FF2B5EF4-FFF2-40B4-BE49-F238E27FC236}">
                <a16:creationId xmlns:a16="http://schemas.microsoft.com/office/drawing/2014/main" id="{B5731D50-8D65-40B3-9C6E-5948D9326F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5" name="Picture 4">
            <a:extLst>
              <a:ext uri="{FF2B5EF4-FFF2-40B4-BE49-F238E27FC236}">
                <a16:creationId xmlns:a16="http://schemas.microsoft.com/office/drawing/2014/main" id="{3FF4BE57-EB36-4966-9CEC-154E1C670A54}"/>
              </a:ext>
            </a:extLst>
          </p:cNvPr>
          <p:cNvPicPr>
            <a:picLocks noChangeAspect="1"/>
          </p:cNvPicPr>
          <p:nvPr/>
        </p:nvPicPr>
        <p:blipFill>
          <a:blip r:embed="rId2"/>
          <a:stretch>
            <a:fillRect/>
          </a:stretch>
        </p:blipFill>
        <p:spPr>
          <a:xfrm>
            <a:off x="8260080" y="114300"/>
            <a:ext cx="769620" cy="577215"/>
          </a:xfrm>
          <a:prstGeom prst="rect">
            <a:avLst/>
          </a:prstGeom>
        </p:spPr>
      </p:pic>
    </p:spTree>
    <p:extLst>
      <p:ext uri="{BB962C8B-B14F-4D97-AF65-F5344CB8AC3E}">
        <p14:creationId xmlns:p14="http://schemas.microsoft.com/office/powerpoint/2010/main" val="5141407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AFAD-A59B-4C0D-8B44-5BC47DFD04EB}"/>
              </a:ext>
            </a:extLst>
          </p:cNvPr>
          <p:cNvSpPr>
            <a:spLocks noGrp="1"/>
          </p:cNvSpPr>
          <p:nvPr>
            <p:ph type="title"/>
          </p:nvPr>
        </p:nvSpPr>
        <p:spPr/>
        <p:txBody>
          <a:bodyPr/>
          <a:lstStyle/>
          <a:p>
            <a:r>
              <a:rPr lang="fr-FR" dirty="0"/>
              <a:t>Agenda</a:t>
            </a:r>
            <a:endParaRPr lang="en-US" dirty="0"/>
          </a:p>
        </p:txBody>
      </p:sp>
      <p:sp>
        <p:nvSpPr>
          <p:cNvPr id="3" name="Text Placeholder 2">
            <a:extLst>
              <a:ext uri="{FF2B5EF4-FFF2-40B4-BE49-F238E27FC236}">
                <a16:creationId xmlns:a16="http://schemas.microsoft.com/office/drawing/2014/main" id="{5987450D-7FF5-41D9-8287-B7D52FBE5943}"/>
              </a:ext>
            </a:extLst>
          </p:cNvPr>
          <p:cNvSpPr>
            <a:spLocks noGrp="1"/>
          </p:cNvSpPr>
          <p:nvPr>
            <p:ph type="body" idx="1"/>
          </p:nvPr>
        </p:nvSpPr>
        <p:spPr/>
        <p:txBody>
          <a:bodyPr/>
          <a:lstStyle/>
          <a:p>
            <a:pPr marL="114300" indent="0">
              <a:buNone/>
            </a:pPr>
            <a:r>
              <a:rPr lang="en-US" dirty="0"/>
              <a:t>10min: Agenda and Introduction (Lionel)</a:t>
            </a:r>
          </a:p>
          <a:p>
            <a:pPr marL="114300" indent="0">
              <a:buNone/>
            </a:pPr>
            <a:r>
              <a:rPr lang="en-US" dirty="0">
                <a:solidFill>
                  <a:schemeClr val="tx1"/>
                </a:solidFill>
              </a:rPr>
              <a:t>60min: Presentations</a:t>
            </a:r>
          </a:p>
          <a:p>
            <a:pPr marL="571500" lvl="1" indent="0">
              <a:buNone/>
            </a:pPr>
            <a:r>
              <a:rPr lang="fr-FR" sz="1600" dirty="0"/>
              <a:t>25mn: AI agent networks </a:t>
            </a:r>
            <a:r>
              <a:rPr lang="fr-FR" sz="1600" dirty="0" err="1"/>
              <a:t>framework</a:t>
            </a:r>
            <a:r>
              <a:rPr lang="fr-FR" sz="1600" dirty="0"/>
              <a:t> (ANP)</a:t>
            </a:r>
          </a:p>
          <a:p>
            <a:pPr marL="571500" lvl="1" indent="0">
              <a:buNone/>
            </a:pPr>
            <a:r>
              <a:rPr lang="en-US" sz="1600" dirty="0"/>
              <a:t>10mn: Multi-Access Collaboration Requirements for AI Agent Protocol (China Unicom)</a:t>
            </a:r>
          </a:p>
          <a:p>
            <a:pPr marL="571500" lvl="1" indent="0">
              <a:buNone/>
            </a:pPr>
            <a:r>
              <a:rPr lang="en-US" sz="1600" dirty="0"/>
              <a:t>15mn: AI Agents Communication Use Cases and Requirements (China Telecom)</a:t>
            </a:r>
          </a:p>
          <a:p>
            <a:pPr marL="571500" lvl="1" indent="0">
              <a:buNone/>
            </a:pPr>
            <a:r>
              <a:rPr lang="en-US" sz="1600" dirty="0"/>
              <a:t>10mn: Telecom AI Agent Use cases and Requirements (China Mobile)</a:t>
            </a:r>
          </a:p>
          <a:p>
            <a:pPr marL="114300" indent="0">
              <a:buNone/>
            </a:pPr>
            <a:r>
              <a:rPr lang="en-US" dirty="0">
                <a:solidFill>
                  <a:schemeClr val="tx1"/>
                </a:solidFill>
              </a:rPr>
              <a:t>40min: Additional items for the proposed charter? </a:t>
            </a:r>
          </a:p>
          <a:p>
            <a:pPr marL="114300" indent="0">
              <a:buNone/>
            </a:pPr>
            <a:r>
              <a:rPr lang="en-US" b="1" dirty="0">
                <a:solidFill>
                  <a:srgbClr val="FF0000"/>
                </a:solidFill>
              </a:rPr>
              <a:t>10min: Conclusions and Next Steps</a:t>
            </a:r>
          </a:p>
        </p:txBody>
      </p:sp>
      <p:sp>
        <p:nvSpPr>
          <p:cNvPr id="4" name="Slide Number Placeholder 3">
            <a:extLst>
              <a:ext uri="{FF2B5EF4-FFF2-40B4-BE49-F238E27FC236}">
                <a16:creationId xmlns:a16="http://schemas.microsoft.com/office/drawing/2014/main" id="{7DDBDB5F-36F5-496B-BDD7-B45C55AF44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5" name="Picture 4">
            <a:extLst>
              <a:ext uri="{FF2B5EF4-FFF2-40B4-BE49-F238E27FC236}">
                <a16:creationId xmlns:a16="http://schemas.microsoft.com/office/drawing/2014/main" id="{18358B0B-1C49-4E1A-ACC0-9A2C6076E979}"/>
              </a:ext>
            </a:extLst>
          </p:cNvPr>
          <p:cNvPicPr>
            <a:picLocks noChangeAspect="1"/>
          </p:cNvPicPr>
          <p:nvPr/>
        </p:nvPicPr>
        <p:blipFill>
          <a:blip r:embed="rId2"/>
          <a:stretch>
            <a:fillRect/>
          </a:stretch>
        </p:blipFill>
        <p:spPr>
          <a:xfrm>
            <a:off x="8260080" y="114300"/>
            <a:ext cx="769620" cy="577215"/>
          </a:xfrm>
          <a:prstGeom prst="rect">
            <a:avLst/>
          </a:prstGeom>
        </p:spPr>
      </p:pic>
    </p:spTree>
    <p:extLst>
      <p:ext uri="{BB962C8B-B14F-4D97-AF65-F5344CB8AC3E}">
        <p14:creationId xmlns:p14="http://schemas.microsoft.com/office/powerpoint/2010/main" val="3155439167"/>
      </p:ext>
    </p:extLst>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7700</TotalTime>
  <Words>1427</Words>
  <Application>Microsoft Office PowerPoint</Application>
  <PresentationFormat>On-screen Show (16:9)</PresentationFormat>
  <Paragraphs>122</Paragraphs>
  <Slides>15</Slides>
  <Notes>3</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15</vt:i4>
      </vt:variant>
    </vt:vector>
  </HeadingPairs>
  <TitlesOfParts>
    <vt:vector size="27" baseType="lpstr">
      <vt:lpstr>ＭＳ Ｐゴシック</vt:lpstr>
      <vt:lpstr>Agency FB</vt:lpstr>
      <vt:lpstr>Arial</vt:lpstr>
      <vt:lpstr>Inter</vt:lpstr>
      <vt:lpstr>Montserrat</vt:lpstr>
      <vt:lpstr>Open Sans</vt:lpstr>
      <vt:lpstr>Open Sans Medium</vt:lpstr>
      <vt:lpstr>Open Sans SemiBold</vt:lpstr>
      <vt:lpstr>Roboto</vt:lpstr>
      <vt:lpstr>Wingdings</vt:lpstr>
      <vt:lpstr>Material</vt:lpstr>
      <vt:lpstr>IETF Template</vt:lpstr>
      <vt:lpstr>Side meeting AI-Agent Network Requirements and Protocols  </vt:lpstr>
      <vt:lpstr>Note Well</vt:lpstr>
      <vt:lpstr>Agenda</vt:lpstr>
      <vt:lpstr>Output of AI Protocols side meeting (Tuesday, Nov 4)</vt:lpstr>
      <vt:lpstr>Objectives of this side meeting</vt:lpstr>
      <vt:lpstr>3GPP 6G workplan </vt:lpstr>
      <vt:lpstr>Status</vt:lpstr>
      <vt:lpstr>Agenda</vt:lpstr>
      <vt:lpstr>AI Agents Communication Use Cases and Requirements</vt:lpstr>
      <vt:lpstr>Telecom AI Agent Use cases and Requirements</vt:lpstr>
      <vt:lpstr>Multi-Access Collaboration</vt:lpstr>
      <vt:lpstr>Agenda</vt:lpstr>
      <vt:lpstr>Current items identified in the proposed charter 1/2</vt:lpstr>
      <vt:lpstr>Current items identified in the proposed charter 2/2</vt:lpstr>
      <vt:lpstr>Agenda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IETF 123 Session title</dc:title>
  <dc:creator>Lionel Morand</dc:creator>
  <cp:lastModifiedBy>Lionel Morand</cp:lastModifiedBy>
  <cp:revision>105</cp:revision>
  <dcterms:modified xsi:type="dcterms:W3CDTF">2025-11-05T17:07:32Z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readonly">
    <vt:lpwstr/>
  </property>
  <property fmtid="{D5CDD505-2E9C-101B-9397-08002B2CF9AE}" pid="3" name="_change">
    <vt:lpwstr/>
  </property>
  <property fmtid="{D5CDD505-2E9C-101B-9397-08002B2CF9AE}" pid="4" name="_full-control">
    <vt:lpwstr/>
  </property>
  <property fmtid="{D5CDD505-2E9C-101B-9397-08002B2CF9AE}" pid="5" name="sflag">
    <vt:lpwstr>1762343015</vt:lpwstr>
  </property>
</Properties>
</file>